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8869680" y="-2103120"/>
            <a:ext cx="5943600" cy="5943600"/>
          </a:xfrm>
          <a:prstGeom prst="ellipse">
            <a:avLst/>
          </a:prstGeom>
          <a:solidFill>
            <a:srgbClr val="141B4D"/>
          </a:solidFill>
          <a:ln/>
        </p:spPr>
      </p:sp>
      <p:sp>
        <p:nvSpPr>
          <p:cNvPr id="4" name="Shape 2"/>
          <p:cNvSpPr/>
          <p:nvPr/>
        </p:nvSpPr>
        <p:spPr>
          <a:xfrm>
            <a:off x="10424160" y="4206240"/>
            <a:ext cx="3840480" cy="3840480"/>
          </a:xfrm>
          <a:prstGeom prst="ellipse">
            <a:avLst/>
          </a:prstGeom>
          <a:solidFill>
            <a:srgbClr val="222D6E"/>
          </a:solidFill>
          <a:ln/>
        </p:spPr>
      </p:sp>
      <p:sp>
        <p:nvSpPr>
          <p:cNvPr id="5" name="Text 3"/>
          <p:cNvSpPr/>
          <p:nvPr/>
        </p:nvSpPr>
        <p:spPr>
          <a:xfrm>
            <a:off x="731520" y="1600200"/>
            <a:ext cx="8229600" cy="365760"/>
          </a:xfrm>
          <a:prstGeom prst="rect">
            <a:avLst/>
          </a:prstGeom>
          <a:noFill/>
          <a:ln/>
        </p:spPr>
        <p:txBody>
          <a:bodyPr wrap="square"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DATAIKU AGENTS  ·  AGENT HUB</a:t>
            </a:r>
            <a:endParaRPr lang="en-US" sz="1300" dirty="0"/>
          </a:p>
        </p:txBody>
      </p:sp>
      <p:sp>
        <p:nvSpPr>
          <p:cNvPr id="6" name="Text 4"/>
          <p:cNvSpPr/>
          <p:nvPr/>
        </p:nvSpPr>
        <p:spPr>
          <a:xfrm>
            <a:off x="685800" y="2011680"/>
            <a:ext cx="9875520" cy="18288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Des agents IA pour le</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Service Management</a:t>
            </a:r>
            <a:endParaRPr lang="en-US" sz="4400" dirty="0"/>
          </a:p>
        </p:txBody>
      </p:sp>
      <p:sp>
        <p:nvSpPr>
          <p:cNvPr id="7" name="Text 5"/>
          <p:cNvSpPr/>
          <p:nvPr/>
        </p:nvSpPr>
        <p:spPr>
          <a:xfrm>
            <a:off x="731520" y="3794760"/>
            <a:ext cx="9144000" cy="45720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Incidents · Changements · Problèmes · QoS</a:t>
            </a:r>
            <a:endParaRPr lang="en-US" sz="1800" dirty="0"/>
          </a:p>
        </p:txBody>
      </p:sp>
      <p:sp>
        <p:nvSpPr>
          <p:cNvPr id="8" name="Shape 6"/>
          <p:cNvSpPr/>
          <p:nvPr/>
        </p:nvSpPr>
        <p:spPr>
          <a:xfrm>
            <a:off x="731520" y="4434840"/>
            <a:ext cx="2011680" cy="0"/>
          </a:xfrm>
          <a:prstGeom prst="line">
            <a:avLst/>
          </a:prstGeom>
          <a:noFill/>
          <a:ln w="25400">
            <a:solidFill>
              <a:srgbClr val="E8A33D"/>
            </a:solidFill>
            <a:prstDash val="solid"/>
          </a:ln>
        </p:spPr>
      </p:sp>
      <p:sp>
        <p:nvSpPr>
          <p:cNvPr id="9" name="Text 7"/>
          <p:cNvSpPr/>
          <p:nvPr/>
        </p:nvSpPr>
        <p:spPr>
          <a:xfrm>
            <a:off x="731520" y="4663440"/>
            <a:ext cx="8686800" cy="640080"/>
          </a:xfrm>
          <a:prstGeom prst="rect">
            <a:avLst/>
          </a:prstGeom>
          <a:noFill/>
          <a:ln/>
        </p:spPr>
        <p:txBody>
          <a:bodyPr wrap="square" rtlCol="0" anchor="ctr"/>
          <a:lstStyle/>
          <a:p>
            <a:pPr indent="0" marL="0">
              <a:buNone/>
            </a:pPr>
            <a:r>
              <a:rPr lang="en-US" sz="1300" i="1" dirty="0">
                <a:solidFill>
                  <a:srgbClr val="C7CEEA"/>
                </a:solidFill>
                <a:latin typeface="Calibri" pitchFamily="34" charset="0"/>
                <a:ea typeface="Calibri" pitchFamily="34" charset="-122"/>
                <a:cs typeface="Calibri" pitchFamily="34" charset="-120"/>
              </a:rPr>
              <a:t>Un premier agent est déjà opérationnel : retrouver les changements</a:t>
            </a:r>
            <a:endParaRPr lang="en-US" sz="1300" dirty="0"/>
          </a:p>
          <a:p>
            <a:pPr indent="0" marL="0">
              <a:buNone/>
            </a:pPr>
            <a:r>
              <a:rPr lang="en-US" sz="1300" i="1" dirty="0">
                <a:solidFill>
                  <a:srgbClr val="C7CEEA"/>
                </a:solidFill>
                <a:latin typeface="Calibri" pitchFamily="34" charset="0"/>
                <a:ea typeface="Calibri" pitchFamily="34" charset="-122"/>
                <a:cs typeface="Calibri" pitchFamily="34" charset="-120"/>
              </a:rPr>
              <a:t>à l'origine d'un incident à partir de sa référence.</a:t>
            </a:r>
            <a:endParaRPr lang="en-US" sz="1300" dirty="0"/>
          </a:p>
        </p:txBody>
      </p:sp>
      <p:sp>
        <p:nvSpPr>
          <p:cNvPr id="10" name="Text 8"/>
          <p:cNvSpPr/>
          <p:nvPr/>
        </p:nvSpPr>
        <p:spPr>
          <a:xfrm>
            <a:off x="731520" y="6217920"/>
            <a:ext cx="5486400" cy="320040"/>
          </a:xfrm>
          <a:prstGeom prst="rect">
            <a:avLst/>
          </a:prstGeom>
          <a:noFill/>
          <a:ln/>
        </p:spPr>
        <p:txBody>
          <a:bodyPr wrap="square" rtlCol="0" anchor="ctr"/>
          <a:lstStyle/>
          <a:p>
            <a:pPr indent="0" marL="0">
              <a:buNone/>
            </a:pPr>
            <a:r>
              <a:rPr lang="en-US" sz="1100" dirty="0">
                <a:solidFill>
                  <a:srgbClr val="8892C4"/>
                </a:solidFill>
                <a:latin typeface="Calibri" pitchFamily="34" charset="0"/>
                <a:ea typeface="Calibri" pitchFamily="34" charset="-122"/>
                <a:cs typeface="Calibri" pitchFamily="34" charset="-120"/>
              </a:rPr>
              <a:t>Présentation interne  ·  Septembre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CONTEXTE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Notre terrain de jeu : 4 processus, 1 ambition</a:t>
            </a:r>
            <a:endParaRPr lang="en-US" sz="3000" dirty="0"/>
          </a:p>
        </p:txBody>
      </p:sp>
      <p:sp>
        <p:nvSpPr>
          <p:cNvPr id="4" name="Text 2"/>
          <p:cNvSpPr/>
          <p:nvPr/>
        </p:nvSpPr>
        <p:spPr>
          <a:xfrm>
            <a:off x="548640" y="1554480"/>
            <a:ext cx="11064240" cy="822960"/>
          </a:xfrm>
          <a:prstGeom prst="rect">
            <a:avLst/>
          </a:prstGeom>
          <a:noFill/>
          <a:ln/>
        </p:spPr>
        <p:txBody>
          <a:bodyPr wrap="square" rtlCol="0" anchor="ctr"/>
          <a:lstStyle/>
          <a:p>
            <a:pPr indent="0" marL="0">
              <a:lnSpc>
                <a:spcPts val="2100"/>
              </a:lnSpc>
              <a:buNone/>
            </a:pPr>
            <a:r>
              <a:rPr lang="en-US" sz="1400" dirty="0">
                <a:solidFill>
                  <a:srgbClr val="5B6472"/>
                </a:solidFill>
                <a:latin typeface="Calibri" pitchFamily="34" charset="0"/>
                <a:ea typeface="Calibri" pitchFamily="34" charset="-122"/>
                <a:cs typeface="Calibri" pitchFamily="34" charset="-120"/>
              </a:rPr>
              <a:t>L'équipe Service Management pilote la gestion des Incidents, des Changements, des Problèmes et de la Qualité de Service (QoS). Chacun de ces processus repose sur des recherches, des corrélations et des synthèses répétitives — un terrain idéal pour des agents IA.</a:t>
            </a:r>
            <a:endParaRPr lang="en-US" sz="1400" dirty="0"/>
          </a:p>
        </p:txBody>
      </p:sp>
      <p:sp>
        <p:nvSpPr>
          <p:cNvPr id="5" name="Text 3"/>
          <p:cNvSpPr/>
          <p:nvPr/>
        </p:nvSpPr>
        <p:spPr>
          <a:xfrm>
            <a:off x="548640" y="2423160"/>
            <a:ext cx="182880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Objectif :</a:t>
            </a:r>
            <a:endParaRPr lang="en-US" sz="1300" dirty="0"/>
          </a:p>
        </p:txBody>
      </p:sp>
      <p:sp>
        <p:nvSpPr>
          <p:cNvPr id="6" name="Text 4"/>
          <p:cNvSpPr/>
          <p:nvPr/>
        </p:nvSpPr>
        <p:spPr>
          <a:xfrm>
            <a:off x="2148840" y="2423160"/>
            <a:ext cx="9418320" cy="457200"/>
          </a:xfrm>
          <a:prstGeom prst="rect">
            <a:avLst/>
          </a:prstGeom>
          <a:noFill/>
          <a:ln/>
        </p:spPr>
        <p:txBody>
          <a:bodyPr wrap="square" rtlCol="0" anchor="ctr"/>
          <a:lstStyle/>
          <a:p>
            <a:pPr indent="0" marL="0">
              <a:buNone/>
            </a:pPr>
            <a:r>
              <a:rPr lang="en-US" sz="1300" dirty="0">
                <a:solidFill>
                  <a:srgbClr val="5B6472"/>
                </a:solidFill>
                <a:latin typeface="Calibri" pitchFamily="34" charset="0"/>
                <a:ea typeface="Calibri" pitchFamily="34" charset="-122"/>
                <a:cs typeface="Calibri" pitchFamily="34" charset="-120"/>
              </a:rPr>
              <a:t>créer un agent Dataiku dédié à chacun de ces 4 processus, puis les publier et les gouverner dans Agent Hub.</a:t>
            </a:r>
            <a:endParaRPr lang="en-US" sz="1300" dirty="0"/>
          </a:p>
        </p:txBody>
      </p:sp>
      <p:sp>
        <p:nvSpPr>
          <p:cNvPr id="7" name="Shape 5"/>
          <p:cNvSpPr/>
          <p:nvPr/>
        </p:nvSpPr>
        <p:spPr>
          <a:xfrm>
            <a:off x="548640" y="3154680"/>
            <a:ext cx="2606040" cy="2423160"/>
          </a:xfrm>
          <a:prstGeom prst="roundRect">
            <a:avLst>
              <a:gd name="adj" fmla="val 3019"/>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8" name="Shape 6"/>
          <p:cNvSpPr/>
          <p:nvPr/>
        </p:nvSpPr>
        <p:spPr>
          <a:xfrm>
            <a:off x="1485900" y="3474720"/>
            <a:ext cx="731520" cy="731520"/>
          </a:xfrm>
          <a:prstGeom prst="ellipse">
            <a:avLst/>
          </a:prstGeom>
          <a:solidFill>
            <a:srgbClr val="E8A33D"/>
          </a:solidFill>
          <a:ln/>
        </p:spPr>
      </p:sp>
      <p:sp>
        <p:nvSpPr>
          <p:cNvPr id="9" name="Text 7"/>
          <p:cNvSpPr/>
          <p:nvPr/>
        </p:nvSpPr>
        <p:spPr>
          <a:xfrm>
            <a:off x="1485900" y="3474720"/>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a:t>
            </a:r>
            <a:endParaRPr lang="en-US" sz="1500" dirty="0"/>
          </a:p>
        </p:txBody>
      </p:sp>
      <p:sp>
        <p:nvSpPr>
          <p:cNvPr id="10" name="Text 8"/>
          <p:cNvSpPr/>
          <p:nvPr/>
        </p:nvSpPr>
        <p:spPr>
          <a:xfrm>
            <a:off x="658368" y="4389120"/>
            <a:ext cx="2386584" cy="36576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Incidents</a:t>
            </a:r>
            <a:endParaRPr lang="en-US" sz="1500" dirty="0"/>
          </a:p>
        </p:txBody>
      </p:sp>
      <p:sp>
        <p:nvSpPr>
          <p:cNvPr id="11" name="Text 9"/>
          <p:cNvSpPr/>
          <p:nvPr/>
        </p:nvSpPr>
        <p:spPr>
          <a:xfrm>
            <a:off x="685800" y="4800600"/>
            <a:ext cx="2331720" cy="640080"/>
          </a:xfrm>
          <a:prstGeom prst="rect">
            <a:avLst/>
          </a:prstGeom>
          <a:noFill/>
          <a:ln/>
        </p:spPr>
        <p:txBody>
          <a:bodyPr wrap="square"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Diagnostiquer, corréler, résumer</a:t>
            </a:r>
            <a:endParaRPr lang="en-US" sz="1100" dirty="0"/>
          </a:p>
        </p:txBody>
      </p:sp>
      <p:sp>
        <p:nvSpPr>
          <p:cNvPr id="12" name="Shape 10"/>
          <p:cNvSpPr/>
          <p:nvPr/>
        </p:nvSpPr>
        <p:spPr>
          <a:xfrm>
            <a:off x="3410712" y="3154680"/>
            <a:ext cx="2606040" cy="2423160"/>
          </a:xfrm>
          <a:prstGeom prst="roundRect">
            <a:avLst>
              <a:gd name="adj" fmla="val 3019"/>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13" name="Shape 11"/>
          <p:cNvSpPr/>
          <p:nvPr/>
        </p:nvSpPr>
        <p:spPr>
          <a:xfrm>
            <a:off x="4347972" y="3474720"/>
            <a:ext cx="731520" cy="731520"/>
          </a:xfrm>
          <a:prstGeom prst="ellipse">
            <a:avLst/>
          </a:prstGeom>
          <a:solidFill>
            <a:srgbClr val="1E2761"/>
          </a:solidFill>
          <a:ln/>
        </p:spPr>
      </p:sp>
      <p:sp>
        <p:nvSpPr>
          <p:cNvPr id="14" name="Text 12"/>
          <p:cNvSpPr/>
          <p:nvPr/>
        </p:nvSpPr>
        <p:spPr>
          <a:xfrm>
            <a:off x="4347972" y="3474720"/>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a:t>
            </a:r>
            <a:endParaRPr lang="en-US" sz="1500" dirty="0"/>
          </a:p>
        </p:txBody>
      </p:sp>
      <p:sp>
        <p:nvSpPr>
          <p:cNvPr id="15" name="Text 13"/>
          <p:cNvSpPr/>
          <p:nvPr/>
        </p:nvSpPr>
        <p:spPr>
          <a:xfrm>
            <a:off x="3520440" y="4389120"/>
            <a:ext cx="2386584" cy="36576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Changements</a:t>
            </a:r>
            <a:endParaRPr lang="en-US" sz="1500" dirty="0"/>
          </a:p>
        </p:txBody>
      </p:sp>
      <p:sp>
        <p:nvSpPr>
          <p:cNvPr id="16" name="Text 14"/>
          <p:cNvSpPr/>
          <p:nvPr/>
        </p:nvSpPr>
        <p:spPr>
          <a:xfrm>
            <a:off x="3547872" y="4800600"/>
            <a:ext cx="2331720" cy="640080"/>
          </a:xfrm>
          <a:prstGeom prst="rect">
            <a:avLst/>
          </a:prstGeom>
          <a:noFill/>
          <a:ln/>
        </p:spPr>
        <p:txBody>
          <a:bodyPr wrap="square"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Évaluer l'impact et le risque</a:t>
            </a:r>
            <a:endParaRPr lang="en-US" sz="1100" dirty="0"/>
          </a:p>
        </p:txBody>
      </p:sp>
      <p:sp>
        <p:nvSpPr>
          <p:cNvPr id="17" name="Shape 15"/>
          <p:cNvSpPr/>
          <p:nvPr/>
        </p:nvSpPr>
        <p:spPr>
          <a:xfrm>
            <a:off x="6272784" y="3154680"/>
            <a:ext cx="2606040" cy="2423160"/>
          </a:xfrm>
          <a:prstGeom prst="roundRect">
            <a:avLst>
              <a:gd name="adj" fmla="val 3019"/>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18" name="Shape 16"/>
          <p:cNvSpPr/>
          <p:nvPr/>
        </p:nvSpPr>
        <p:spPr>
          <a:xfrm>
            <a:off x="7210044" y="3474720"/>
            <a:ext cx="731520" cy="731520"/>
          </a:xfrm>
          <a:prstGeom prst="ellipse">
            <a:avLst/>
          </a:prstGeom>
          <a:solidFill>
            <a:srgbClr val="1E2761"/>
          </a:solidFill>
          <a:ln/>
        </p:spPr>
      </p:sp>
      <p:sp>
        <p:nvSpPr>
          <p:cNvPr id="19" name="Text 17"/>
          <p:cNvSpPr/>
          <p:nvPr/>
        </p:nvSpPr>
        <p:spPr>
          <a:xfrm>
            <a:off x="7210044" y="3474720"/>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PB</a:t>
            </a:r>
            <a:endParaRPr lang="en-US" sz="1500" dirty="0"/>
          </a:p>
        </p:txBody>
      </p:sp>
      <p:sp>
        <p:nvSpPr>
          <p:cNvPr id="20" name="Text 18"/>
          <p:cNvSpPr/>
          <p:nvPr/>
        </p:nvSpPr>
        <p:spPr>
          <a:xfrm>
            <a:off x="6382512" y="4389120"/>
            <a:ext cx="2386584" cy="36576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Problèmes</a:t>
            </a:r>
            <a:endParaRPr lang="en-US" sz="1500" dirty="0"/>
          </a:p>
        </p:txBody>
      </p:sp>
      <p:sp>
        <p:nvSpPr>
          <p:cNvPr id="21" name="Text 19"/>
          <p:cNvSpPr/>
          <p:nvPr/>
        </p:nvSpPr>
        <p:spPr>
          <a:xfrm>
            <a:off x="6409944" y="4800600"/>
            <a:ext cx="2331720" cy="640080"/>
          </a:xfrm>
          <a:prstGeom prst="rect">
            <a:avLst/>
          </a:prstGeom>
          <a:noFill/>
          <a:ln/>
        </p:spPr>
        <p:txBody>
          <a:bodyPr wrap="square"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Trouver les causes racines</a:t>
            </a:r>
            <a:endParaRPr lang="en-US" sz="1100" dirty="0"/>
          </a:p>
        </p:txBody>
      </p:sp>
      <p:sp>
        <p:nvSpPr>
          <p:cNvPr id="22" name="Shape 20"/>
          <p:cNvSpPr/>
          <p:nvPr/>
        </p:nvSpPr>
        <p:spPr>
          <a:xfrm>
            <a:off x="9134856" y="3154680"/>
            <a:ext cx="2606040" cy="2423160"/>
          </a:xfrm>
          <a:prstGeom prst="roundRect">
            <a:avLst>
              <a:gd name="adj" fmla="val 3019"/>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23" name="Shape 21"/>
          <p:cNvSpPr/>
          <p:nvPr/>
        </p:nvSpPr>
        <p:spPr>
          <a:xfrm>
            <a:off x="10072116" y="3474720"/>
            <a:ext cx="731520" cy="731520"/>
          </a:xfrm>
          <a:prstGeom prst="ellipse">
            <a:avLst/>
          </a:prstGeom>
          <a:solidFill>
            <a:srgbClr val="1E2761"/>
          </a:solidFill>
          <a:ln/>
        </p:spPr>
      </p:sp>
      <p:sp>
        <p:nvSpPr>
          <p:cNvPr id="24" name="Text 22"/>
          <p:cNvSpPr/>
          <p:nvPr/>
        </p:nvSpPr>
        <p:spPr>
          <a:xfrm>
            <a:off x="10072116" y="3474720"/>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QoS</a:t>
            </a:r>
            <a:endParaRPr lang="en-US" sz="1500" dirty="0"/>
          </a:p>
        </p:txBody>
      </p:sp>
      <p:sp>
        <p:nvSpPr>
          <p:cNvPr id="25" name="Text 23"/>
          <p:cNvSpPr/>
          <p:nvPr/>
        </p:nvSpPr>
        <p:spPr>
          <a:xfrm>
            <a:off x="9244584" y="4389120"/>
            <a:ext cx="2386584" cy="36576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QoS</a:t>
            </a:r>
            <a:endParaRPr lang="en-US" sz="1500" dirty="0"/>
          </a:p>
        </p:txBody>
      </p:sp>
      <p:sp>
        <p:nvSpPr>
          <p:cNvPr id="26" name="Text 24"/>
          <p:cNvSpPr/>
          <p:nvPr/>
        </p:nvSpPr>
        <p:spPr>
          <a:xfrm>
            <a:off x="9272016" y="4800600"/>
            <a:ext cx="2331720" cy="640080"/>
          </a:xfrm>
          <a:prstGeom prst="rect">
            <a:avLst/>
          </a:prstGeom>
          <a:noFill/>
          <a:ln/>
        </p:spPr>
        <p:txBody>
          <a:bodyPr wrap="square"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Suivre et alerter sur les SLA</a:t>
            </a:r>
            <a:endParaRPr lang="en-US" sz="1100" dirty="0"/>
          </a:p>
        </p:txBody>
      </p:sp>
      <p:sp>
        <p:nvSpPr>
          <p:cNvPr id="27" name="Text 25"/>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28" name="Text 2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LES FONDAMENTAUX</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Qu'est-ce qu'un agent Dataiku ?</a:t>
            </a:r>
            <a:endParaRPr lang="en-US" sz="3000" dirty="0"/>
          </a:p>
        </p:txBody>
      </p:sp>
      <p:sp>
        <p:nvSpPr>
          <p:cNvPr id="4" name="Text 2"/>
          <p:cNvSpPr/>
          <p:nvPr/>
        </p:nvSpPr>
        <p:spPr>
          <a:xfrm>
            <a:off x="548640" y="1508760"/>
            <a:ext cx="5577840" cy="1554480"/>
          </a:xfrm>
          <a:prstGeom prst="rect">
            <a:avLst/>
          </a:prstGeom>
          <a:noFill/>
          <a:ln/>
        </p:spPr>
        <p:txBody>
          <a:bodyPr wrap="square" rtlCol="0" anchor="ctr"/>
          <a:lstStyle/>
          <a:p>
            <a:pPr indent="0" marL="0">
              <a:lnSpc>
                <a:spcPts val="2200"/>
              </a:lnSpc>
              <a:buNone/>
            </a:pPr>
            <a:r>
              <a:rPr lang="en-US" sz="1400" dirty="0">
                <a:solidFill>
                  <a:srgbClr val="5B6472"/>
                </a:solidFill>
                <a:latin typeface="Calibri" pitchFamily="34" charset="0"/>
                <a:ea typeface="Calibri" pitchFamily="34" charset="-122"/>
                <a:cs typeface="Calibri" pitchFamily="34" charset="-120"/>
              </a:rPr>
              <a:t>Un LLM sait générer du texte. Un agent va plus loin : il utilise ce LLM comme un « cerveau » qui raisonne, choisit les bons outils (Tools), les enchaîne, puis répond ou agit — sur vos données, vos modèles, vos systèmes.</a:t>
            </a:r>
            <a:endParaRPr lang="en-US" sz="1400" dirty="0"/>
          </a:p>
        </p:txBody>
      </p:sp>
      <p:sp>
        <p:nvSpPr>
          <p:cNvPr id="5" name="Shape 3"/>
          <p:cNvSpPr/>
          <p:nvPr/>
        </p:nvSpPr>
        <p:spPr>
          <a:xfrm>
            <a:off x="548640" y="3227832"/>
            <a:ext cx="128016" cy="128016"/>
          </a:xfrm>
          <a:prstGeom prst="ellipse">
            <a:avLst/>
          </a:prstGeom>
          <a:solidFill>
            <a:srgbClr val="E8A33D"/>
          </a:solidFill>
          <a:ln/>
        </p:spPr>
      </p:sp>
      <p:sp>
        <p:nvSpPr>
          <p:cNvPr id="6" name="Text 4"/>
          <p:cNvSpPr/>
          <p:nvPr/>
        </p:nvSpPr>
        <p:spPr>
          <a:xfrm>
            <a:off x="822960" y="3063240"/>
            <a:ext cx="539496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Raisonne</a:t>
            </a:r>
            <a:endParaRPr lang="en-US" sz="1300" dirty="0"/>
          </a:p>
        </p:txBody>
      </p:sp>
      <p:sp>
        <p:nvSpPr>
          <p:cNvPr id="7" name="Text 5"/>
          <p:cNvSpPr/>
          <p:nvPr/>
        </p:nvSpPr>
        <p:spPr>
          <a:xfrm>
            <a:off x="822960" y="3346704"/>
            <a:ext cx="5394960" cy="36576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Analyse la demande et planifie les étapes nécessaires.</a:t>
            </a:r>
            <a:endParaRPr lang="en-US" sz="1150" dirty="0"/>
          </a:p>
        </p:txBody>
      </p:sp>
      <p:sp>
        <p:nvSpPr>
          <p:cNvPr id="8" name="Shape 6"/>
          <p:cNvSpPr/>
          <p:nvPr/>
        </p:nvSpPr>
        <p:spPr>
          <a:xfrm>
            <a:off x="548640" y="3849624"/>
            <a:ext cx="128016" cy="128016"/>
          </a:xfrm>
          <a:prstGeom prst="ellipse">
            <a:avLst/>
          </a:prstGeom>
          <a:solidFill>
            <a:srgbClr val="E8A33D"/>
          </a:solidFill>
          <a:ln/>
        </p:spPr>
      </p:sp>
      <p:sp>
        <p:nvSpPr>
          <p:cNvPr id="9" name="Text 7"/>
          <p:cNvSpPr/>
          <p:nvPr/>
        </p:nvSpPr>
        <p:spPr>
          <a:xfrm>
            <a:off x="822960" y="3685032"/>
            <a:ext cx="539496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Choisit ses outils</a:t>
            </a:r>
            <a:endParaRPr lang="en-US" sz="1300" dirty="0"/>
          </a:p>
        </p:txBody>
      </p:sp>
      <p:sp>
        <p:nvSpPr>
          <p:cNvPr id="10" name="Text 8"/>
          <p:cNvSpPr/>
          <p:nvPr/>
        </p:nvSpPr>
        <p:spPr>
          <a:xfrm>
            <a:off x="822960" y="3968496"/>
            <a:ext cx="5394960" cy="36576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Sélectionne automatiquement le ou les Tools pertinents.</a:t>
            </a:r>
            <a:endParaRPr lang="en-US" sz="1150" dirty="0"/>
          </a:p>
        </p:txBody>
      </p:sp>
      <p:sp>
        <p:nvSpPr>
          <p:cNvPr id="11" name="Shape 9"/>
          <p:cNvSpPr/>
          <p:nvPr/>
        </p:nvSpPr>
        <p:spPr>
          <a:xfrm>
            <a:off x="548640" y="4471416"/>
            <a:ext cx="128016" cy="128016"/>
          </a:xfrm>
          <a:prstGeom prst="ellipse">
            <a:avLst/>
          </a:prstGeom>
          <a:solidFill>
            <a:srgbClr val="E8A33D"/>
          </a:solidFill>
          <a:ln/>
        </p:spPr>
      </p:sp>
      <p:sp>
        <p:nvSpPr>
          <p:cNvPr id="12" name="Text 10"/>
          <p:cNvSpPr/>
          <p:nvPr/>
        </p:nvSpPr>
        <p:spPr>
          <a:xfrm>
            <a:off x="822960" y="4306824"/>
            <a:ext cx="539496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Agit sur vos données</a:t>
            </a:r>
            <a:endParaRPr lang="en-US" sz="1300" dirty="0"/>
          </a:p>
        </p:txBody>
      </p:sp>
      <p:sp>
        <p:nvSpPr>
          <p:cNvPr id="13" name="Text 11"/>
          <p:cNvSpPr/>
          <p:nvPr/>
        </p:nvSpPr>
        <p:spPr>
          <a:xfrm>
            <a:off x="822960" y="4590288"/>
            <a:ext cx="5394960" cy="36576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Interroge un dataset, une base de connaissances, un modèle ML…</a:t>
            </a:r>
            <a:endParaRPr lang="en-US" sz="1150" dirty="0"/>
          </a:p>
        </p:txBody>
      </p:sp>
      <p:sp>
        <p:nvSpPr>
          <p:cNvPr id="14" name="Shape 12"/>
          <p:cNvSpPr/>
          <p:nvPr/>
        </p:nvSpPr>
        <p:spPr>
          <a:xfrm>
            <a:off x="548640" y="5093208"/>
            <a:ext cx="128016" cy="128016"/>
          </a:xfrm>
          <a:prstGeom prst="ellipse">
            <a:avLst/>
          </a:prstGeom>
          <a:solidFill>
            <a:srgbClr val="E8A33D"/>
          </a:solidFill>
          <a:ln/>
        </p:spPr>
      </p:sp>
      <p:sp>
        <p:nvSpPr>
          <p:cNvPr id="15" name="Text 13"/>
          <p:cNvSpPr/>
          <p:nvPr/>
        </p:nvSpPr>
        <p:spPr>
          <a:xfrm>
            <a:off x="822960" y="4928616"/>
            <a:ext cx="5394960" cy="292608"/>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Répond</a:t>
            </a:r>
            <a:endParaRPr lang="en-US" sz="1300" dirty="0"/>
          </a:p>
        </p:txBody>
      </p:sp>
      <p:sp>
        <p:nvSpPr>
          <p:cNvPr id="16" name="Text 14"/>
          <p:cNvSpPr/>
          <p:nvPr/>
        </p:nvSpPr>
        <p:spPr>
          <a:xfrm>
            <a:off x="822960" y="5212080"/>
            <a:ext cx="5394960" cy="36576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Synthétise une réponse claire, sourcée, exploitable.</a:t>
            </a:r>
            <a:endParaRPr lang="en-US" sz="1150" dirty="0"/>
          </a:p>
        </p:txBody>
      </p:sp>
      <p:sp>
        <p:nvSpPr>
          <p:cNvPr id="17" name="Shape 15"/>
          <p:cNvSpPr/>
          <p:nvPr/>
        </p:nvSpPr>
        <p:spPr>
          <a:xfrm>
            <a:off x="6400800" y="1417320"/>
            <a:ext cx="5212080" cy="4892040"/>
          </a:xfrm>
          <a:prstGeom prst="roundRect">
            <a:avLst>
              <a:gd name="adj" fmla="val 1869"/>
            </a:avLst>
          </a:prstGeom>
          <a:solidFill>
            <a:srgbClr val="F5F7FC"/>
          </a:solidFill>
          <a:ln w="12700">
            <a:solidFill>
              <a:srgbClr val="E3E7F3"/>
            </a:solidFill>
            <a:prstDash val="solid"/>
          </a:ln>
        </p:spPr>
      </p:sp>
      <p:sp>
        <p:nvSpPr>
          <p:cNvPr id="18" name="Shape 16"/>
          <p:cNvSpPr/>
          <p:nvPr/>
        </p:nvSpPr>
        <p:spPr>
          <a:xfrm>
            <a:off x="8321040" y="2834640"/>
            <a:ext cx="1463040" cy="1463040"/>
          </a:xfrm>
          <a:prstGeom prst="ellipse">
            <a:avLst/>
          </a:prstGeom>
          <a:solidFill>
            <a:srgbClr val="1E2761"/>
          </a:solidFill>
          <a:ln/>
        </p:spPr>
      </p:sp>
      <p:sp>
        <p:nvSpPr>
          <p:cNvPr id="19" name="Text 17"/>
          <p:cNvSpPr/>
          <p:nvPr/>
        </p:nvSpPr>
        <p:spPr>
          <a:xfrm>
            <a:off x="8321040" y="2834640"/>
            <a:ext cx="1463040" cy="1463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(LLM)</a:t>
            </a:r>
            <a:endParaRPr lang="en-US" sz="1200" dirty="0"/>
          </a:p>
        </p:txBody>
      </p:sp>
      <p:sp>
        <p:nvSpPr>
          <p:cNvPr id="20" name="Shape 18"/>
          <p:cNvSpPr/>
          <p:nvPr/>
        </p:nvSpPr>
        <p:spPr>
          <a:xfrm>
            <a:off x="7349989" y="2760116"/>
            <a:ext cx="1702571" cy="806044"/>
          </a:xfrm>
          <a:prstGeom prst="line">
            <a:avLst/>
          </a:prstGeom>
          <a:noFill/>
          <a:ln w="15875">
            <a:solidFill>
              <a:srgbClr val="AEB8DE"/>
            </a:solidFill>
            <a:prstDash val="solid"/>
          </a:ln>
        </p:spPr>
      </p:sp>
      <p:sp>
        <p:nvSpPr>
          <p:cNvPr id="21" name="Shape 19"/>
          <p:cNvSpPr/>
          <p:nvPr/>
        </p:nvSpPr>
        <p:spPr>
          <a:xfrm>
            <a:off x="6892789" y="2394356"/>
            <a:ext cx="914400" cy="731520"/>
          </a:xfrm>
          <a:prstGeom prst="ellipse">
            <a:avLst/>
          </a:prstGeom>
          <a:solidFill>
            <a:srgbClr val="FFFFFF"/>
          </a:solidFill>
          <a:ln w="19050">
            <a:solidFill>
              <a:srgbClr val="CADCFC"/>
            </a:solidFill>
            <a:prstDash val="solid"/>
          </a:ln>
        </p:spPr>
      </p:sp>
      <p:sp>
        <p:nvSpPr>
          <p:cNvPr id="22" name="Text 20"/>
          <p:cNvSpPr/>
          <p:nvPr/>
        </p:nvSpPr>
        <p:spPr>
          <a:xfrm>
            <a:off x="6847069" y="2394356"/>
            <a:ext cx="1005840" cy="731520"/>
          </a:xfrm>
          <a:prstGeom prst="rect">
            <a:avLst/>
          </a:prstGeom>
          <a:noFill/>
          <a:ln/>
        </p:spPr>
        <p:txBody>
          <a:bodyPr wrap="square"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Dataset /</a:t>
            </a:r>
            <a:endParaRPr lang="en-US" sz="800" dirty="0"/>
          </a:p>
          <a:p>
            <a:pPr algn="ctr" indent="0" marL="0">
              <a:buNone/>
            </a:pPr>
            <a:r>
              <a:rPr lang="en-US" sz="800" b="1" dirty="0">
                <a:solidFill>
                  <a:srgbClr val="1E2761"/>
                </a:solidFill>
                <a:latin typeface="Calibri" pitchFamily="34" charset="0"/>
                <a:ea typeface="Calibri" pitchFamily="34" charset="-122"/>
                <a:cs typeface="Calibri" pitchFamily="34" charset="-120"/>
              </a:rPr>
              <a:t>Knowledge Bank</a:t>
            </a:r>
            <a:endParaRPr lang="en-US" sz="800" dirty="0"/>
          </a:p>
        </p:txBody>
      </p:sp>
      <p:sp>
        <p:nvSpPr>
          <p:cNvPr id="23" name="Shape 21"/>
          <p:cNvSpPr/>
          <p:nvPr/>
        </p:nvSpPr>
        <p:spPr>
          <a:xfrm>
            <a:off x="9052560" y="1954073"/>
            <a:ext cx="9144" cy="1612087"/>
          </a:xfrm>
          <a:prstGeom prst="line">
            <a:avLst/>
          </a:prstGeom>
          <a:noFill/>
          <a:ln w="15875">
            <a:solidFill>
              <a:srgbClr val="AEB8DE"/>
            </a:solidFill>
            <a:prstDash val="solid"/>
          </a:ln>
        </p:spPr>
      </p:sp>
      <p:sp>
        <p:nvSpPr>
          <p:cNvPr id="24" name="Shape 22"/>
          <p:cNvSpPr/>
          <p:nvPr/>
        </p:nvSpPr>
        <p:spPr>
          <a:xfrm>
            <a:off x="8595360" y="1588313"/>
            <a:ext cx="914400" cy="731520"/>
          </a:xfrm>
          <a:prstGeom prst="ellipse">
            <a:avLst/>
          </a:prstGeom>
          <a:solidFill>
            <a:srgbClr val="FFFFFF"/>
          </a:solidFill>
          <a:ln w="19050">
            <a:solidFill>
              <a:srgbClr val="CADCFC"/>
            </a:solidFill>
            <a:prstDash val="solid"/>
          </a:ln>
        </p:spPr>
      </p:sp>
      <p:sp>
        <p:nvSpPr>
          <p:cNvPr id="25" name="Text 23"/>
          <p:cNvSpPr/>
          <p:nvPr/>
        </p:nvSpPr>
        <p:spPr>
          <a:xfrm>
            <a:off x="8549640" y="1588313"/>
            <a:ext cx="1005840" cy="731520"/>
          </a:xfrm>
          <a:prstGeom prst="rect">
            <a:avLst/>
          </a:prstGeom>
          <a:noFill/>
          <a:ln/>
        </p:spPr>
        <p:txBody>
          <a:bodyPr wrap="square"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Modèle ML</a:t>
            </a:r>
            <a:endParaRPr lang="en-US" sz="800" dirty="0"/>
          </a:p>
        </p:txBody>
      </p:sp>
      <p:sp>
        <p:nvSpPr>
          <p:cNvPr id="26" name="Shape 24"/>
          <p:cNvSpPr/>
          <p:nvPr/>
        </p:nvSpPr>
        <p:spPr>
          <a:xfrm>
            <a:off x="9052560" y="2760116"/>
            <a:ext cx="1702571" cy="806044"/>
          </a:xfrm>
          <a:prstGeom prst="line">
            <a:avLst/>
          </a:prstGeom>
          <a:noFill/>
          <a:ln w="15875">
            <a:solidFill>
              <a:srgbClr val="AEB8DE"/>
            </a:solidFill>
            <a:prstDash val="solid"/>
          </a:ln>
        </p:spPr>
      </p:sp>
      <p:sp>
        <p:nvSpPr>
          <p:cNvPr id="27" name="Shape 25"/>
          <p:cNvSpPr/>
          <p:nvPr/>
        </p:nvSpPr>
        <p:spPr>
          <a:xfrm>
            <a:off x="10297931" y="2394356"/>
            <a:ext cx="914400" cy="731520"/>
          </a:xfrm>
          <a:prstGeom prst="ellipse">
            <a:avLst/>
          </a:prstGeom>
          <a:solidFill>
            <a:srgbClr val="FFFFFF"/>
          </a:solidFill>
          <a:ln w="19050">
            <a:solidFill>
              <a:srgbClr val="CADCFC"/>
            </a:solidFill>
            <a:prstDash val="solid"/>
          </a:ln>
        </p:spPr>
      </p:sp>
      <p:sp>
        <p:nvSpPr>
          <p:cNvPr id="28" name="Text 26"/>
          <p:cNvSpPr/>
          <p:nvPr/>
        </p:nvSpPr>
        <p:spPr>
          <a:xfrm>
            <a:off x="10252211" y="2394356"/>
            <a:ext cx="1005840" cy="731520"/>
          </a:xfrm>
          <a:prstGeom prst="rect">
            <a:avLst/>
          </a:prstGeom>
          <a:noFill/>
          <a:ln/>
        </p:spPr>
        <p:txBody>
          <a:bodyPr wrap="square"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Recherche web</a:t>
            </a:r>
            <a:endParaRPr lang="en-US" sz="800" dirty="0"/>
          </a:p>
        </p:txBody>
      </p:sp>
      <p:sp>
        <p:nvSpPr>
          <p:cNvPr id="29" name="Shape 27"/>
          <p:cNvSpPr/>
          <p:nvPr/>
        </p:nvSpPr>
        <p:spPr>
          <a:xfrm>
            <a:off x="9052560" y="3566160"/>
            <a:ext cx="1702571" cy="806044"/>
          </a:xfrm>
          <a:prstGeom prst="line">
            <a:avLst/>
          </a:prstGeom>
          <a:noFill/>
          <a:ln w="15875">
            <a:solidFill>
              <a:srgbClr val="AEB8DE"/>
            </a:solidFill>
            <a:prstDash val="solid"/>
          </a:ln>
        </p:spPr>
      </p:sp>
      <p:sp>
        <p:nvSpPr>
          <p:cNvPr id="30" name="Shape 28"/>
          <p:cNvSpPr/>
          <p:nvPr/>
        </p:nvSpPr>
        <p:spPr>
          <a:xfrm>
            <a:off x="10297931" y="4006444"/>
            <a:ext cx="914400" cy="731520"/>
          </a:xfrm>
          <a:prstGeom prst="ellipse">
            <a:avLst/>
          </a:prstGeom>
          <a:solidFill>
            <a:srgbClr val="FFFFFF"/>
          </a:solidFill>
          <a:ln w="19050">
            <a:solidFill>
              <a:srgbClr val="CADCFC"/>
            </a:solidFill>
            <a:prstDash val="solid"/>
          </a:ln>
        </p:spPr>
      </p:sp>
      <p:sp>
        <p:nvSpPr>
          <p:cNvPr id="31" name="Text 29"/>
          <p:cNvSpPr/>
          <p:nvPr/>
        </p:nvSpPr>
        <p:spPr>
          <a:xfrm>
            <a:off x="10252211" y="4006444"/>
            <a:ext cx="1005840" cy="731520"/>
          </a:xfrm>
          <a:prstGeom prst="rect">
            <a:avLst/>
          </a:prstGeom>
          <a:noFill/>
          <a:ln/>
        </p:spPr>
        <p:txBody>
          <a:bodyPr wrap="square"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Alerte email</a:t>
            </a:r>
            <a:endParaRPr lang="en-US" sz="800" dirty="0"/>
          </a:p>
        </p:txBody>
      </p:sp>
      <p:sp>
        <p:nvSpPr>
          <p:cNvPr id="32" name="Shape 30"/>
          <p:cNvSpPr/>
          <p:nvPr/>
        </p:nvSpPr>
        <p:spPr>
          <a:xfrm>
            <a:off x="9052560" y="3566160"/>
            <a:ext cx="9144" cy="1612087"/>
          </a:xfrm>
          <a:prstGeom prst="line">
            <a:avLst/>
          </a:prstGeom>
          <a:noFill/>
          <a:ln w="15875">
            <a:solidFill>
              <a:srgbClr val="AEB8DE"/>
            </a:solidFill>
            <a:prstDash val="solid"/>
          </a:ln>
        </p:spPr>
      </p:sp>
      <p:sp>
        <p:nvSpPr>
          <p:cNvPr id="33" name="Shape 31"/>
          <p:cNvSpPr/>
          <p:nvPr/>
        </p:nvSpPr>
        <p:spPr>
          <a:xfrm>
            <a:off x="8595360" y="4812487"/>
            <a:ext cx="914400" cy="731520"/>
          </a:xfrm>
          <a:prstGeom prst="ellipse">
            <a:avLst/>
          </a:prstGeom>
          <a:solidFill>
            <a:srgbClr val="FFFFFF"/>
          </a:solidFill>
          <a:ln w="19050">
            <a:solidFill>
              <a:srgbClr val="CADCFC"/>
            </a:solidFill>
            <a:prstDash val="solid"/>
          </a:ln>
        </p:spPr>
      </p:sp>
      <p:sp>
        <p:nvSpPr>
          <p:cNvPr id="34" name="Text 32"/>
          <p:cNvSpPr/>
          <p:nvPr/>
        </p:nvSpPr>
        <p:spPr>
          <a:xfrm>
            <a:off x="8549640" y="4812487"/>
            <a:ext cx="1005840" cy="731520"/>
          </a:xfrm>
          <a:prstGeom prst="rect">
            <a:avLst/>
          </a:prstGeom>
          <a:noFill/>
          <a:ln/>
        </p:spPr>
        <p:txBody>
          <a:bodyPr wrap="square"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MCP / API</a:t>
            </a:r>
            <a:endParaRPr lang="en-US" sz="800" dirty="0"/>
          </a:p>
        </p:txBody>
      </p:sp>
      <p:sp>
        <p:nvSpPr>
          <p:cNvPr id="35" name="Shape 33"/>
          <p:cNvSpPr/>
          <p:nvPr/>
        </p:nvSpPr>
        <p:spPr>
          <a:xfrm>
            <a:off x="7349989" y="3566160"/>
            <a:ext cx="1702571" cy="806044"/>
          </a:xfrm>
          <a:prstGeom prst="line">
            <a:avLst/>
          </a:prstGeom>
          <a:noFill/>
          <a:ln w="15875">
            <a:solidFill>
              <a:srgbClr val="AEB8DE"/>
            </a:solidFill>
            <a:prstDash val="solid"/>
          </a:ln>
        </p:spPr>
      </p:sp>
      <p:sp>
        <p:nvSpPr>
          <p:cNvPr id="36" name="Shape 34"/>
          <p:cNvSpPr/>
          <p:nvPr/>
        </p:nvSpPr>
        <p:spPr>
          <a:xfrm>
            <a:off x="6892789" y="4006444"/>
            <a:ext cx="914400" cy="731520"/>
          </a:xfrm>
          <a:prstGeom prst="ellipse">
            <a:avLst/>
          </a:prstGeom>
          <a:solidFill>
            <a:srgbClr val="FFFFFF"/>
          </a:solidFill>
          <a:ln w="19050">
            <a:solidFill>
              <a:srgbClr val="CADCFC"/>
            </a:solidFill>
            <a:prstDash val="solid"/>
          </a:ln>
        </p:spPr>
      </p:sp>
      <p:sp>
        <p:nvSpPr>
          <p:cNvPr id="37" name="Text 35"/>
          <p:cNvSpPr/>
          <p:nvPr/>
        </p:nvSpPr>
        <p:spPr>
          <a:xfrm>
            <a:off x="6847069" y="4006444"/>
            <a:ext cx="1005840" cy="731520"/>
          </a:xfrm>
          <a:prstGeom prst="rect">
            <a:avLst/>
          </a:prstGeom>
          <a:noFill/>
          <a:ln/>
        </p:spPr>
        <p:txBody>
          <a:bodyPr wrap="square"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Code Python</a:t>
            </a:r>
            <a:endParaRPr lang="en-US" sz="800" dirty="0"/>
          </a:p>
        </p:txBody>
      </p:sp>
      <p:sp>
        <p:nvSpPr>
          <p:cNvPr id="38" name="Text 36"/>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39" name="Text 3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LES FONDAMENTAUX</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Trois façons de construire un agent</a:t>
            </a:r>
            <a:endParaRPr lang="en-US" sz="3000" dirty="0"/>
          </a:p>
        </p:txBody>
      </p:sp>
      <p:sp>
        <p:nvSpPr>
          <p:cNvPr id="4" name="Shape 2"/>
          <p:cNvSpPr/>
          <p:nvPr/>
        </p:nvSpPr>
        <p:spPr>
          <a:xfrm>
            <a:off x="548640" y="1600200"/>
            <a:ext cx="3611880" cy="4480560"/>
          </a:xfrm>
          <a:prstGeom prst="roundRect">
            <a:avLst>
              <a:gd name="adj" fmla="val 2532"/>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5" name="Shape 3"/>
          <p:cNvSpPr/>
          <p:nvPr/>
        </p:nvSpPr>
        <p:spPr>
          <a:xfrm>
            <a:off x="548640" y="1600200"/>
            <a:ext cx="3611880" cy="822960"/>
          </a:xfrm>
          <a:prstGeom prst="roundRect">
            <a:avLst>
              <a:gd name="adj" fmla="val 11111"/>
            </a:avLst>
          </a:prstGeom>
          <a:solidFill>
            <a:srgbClr val="1E2761"/>
          </a:solidFill>
          <a:ln/>
        </p:spPr>
      </p:sp>
      <p:sp>
        <p:nvSpPr>
          <p:cNvPr id="6" name="Shape 4"/>
          <p:cNvSpPr/>
          <p:nvPr/>
        </p:nvSpPr>
        <p:spPr>
          <a:xfrm>
            <a:off x="548640" y="2011680"/>
            <a:ext cx="3611880" cy="411480"/>
          </a:xfrm>
          <a:prstGeom prst="rect">
            <a:avLst/>
          </a:prstGeom>
          <a:solidFill>
            <a:srgbClr val="1E2761"/>
          </a:solidFill>
          <a:ln/>
        </p:spPr>
      </p:sp>
      <p:sp>
        <p:nvSpPr>
          <p:cNvPr id="7" name="Shape 5"/>
          <p:cNvSpPr/>
          <p:nvPr/>
        </p:nvSpPr>
        <p:spPr>
          <a:xfrm>
            <a:off x="777240" y="1783080"/>
            <a:ext cx="457200" cy="457200"/>
          </a:xfrm>
          <a:prstGeom prst="ellipse">
            <a:avLst/>
          </a:prstGeom>
          <a:solidFill>
            <a:srgbClr val="E8A33D"/>
          </a:solidFill>
          <a:ln/>
        </p:spPr>
      </p:sp>
      <p:sp>
        <p:nvSpPr>
          <p:cNvPr id="8" name="Text 6"/>
          <p:cNvSpPr/>
          <p:nvPr/>
        </p:nvSpPr>
        <p:spPr>
          <a:xfrm>
            <a:off x="777240" y="1783080"/>
            <a:ext cx="45720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371600" y="1709928"/>
            <a:ext cx="2606040" cy="32004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Agent Visuel Simple</a:t>
            </a:r>
            <a:endParaRPr lang="en-US" sz="1450" dirty="0"/>
          </a:p>
        </p:txBody>
      </p:sp>
      <p:sp>
        <p:nvSpPr>
          <p:cNvPr id="10" name="Text 8"/>
          <p:cNvSpPr/>
          <p:nvPr/>
        </p:nvSpPr>
        <p:spPr>
          <a:xfrm>
            <a:off x="1371600" y="2029968"/>
            <a:ext cx="2606040" cy="2743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Sans code</a:t>
            </a:r>
            <a:endParaRPr lang="en-US" sz="1050" dirty="0"/>
          </a:p>
        </p:txBody>
      </p:sp>
      <p:sp>
        <p:nvSpPr>
          <p:cNvPr id="11" name="Text 9"/>
          <p:cNvSpPr/>
          <p:nvPr/>
        </p:nvSpPr>
        <p:spPr>
          <a:xfrm>
            <a:off x="804672" y="2651760"/>
            <a:ext cx="3099816" cy="2103120"/>
          </a:xfrm>
          <a:prstGeom prst="rect">
            <a:avLst/>
          </a:prstGeom>
          <a:noFill/>
          <a:ln/>
        </p:spPr>
        <p:txBody>
          <a:bodyPr wrap="square" rtlCol="0" anchor="ctr"/>
          <a:lstStyle/>
          <a:p>
            <a:pPr indent="0" marL="0">
              <a:lnSpc>
                <a:spcPts val="1700"/>
              </a:lnSpc>
              <a:buNone/>
            </a:pPr>
            <a:r>
              <a:rPr lang="en-US" sz="1200" dirty="0">
                <a:solidFill>
                  <a:srgbClr val="5B6472"/>
                </a:solidFill>
                <a:latin typeface="Calibri" pitchFamily="34" charset="0"/>
                <a:ea typeface="Calibri" pitchFamily="34" charset="-122"/>
                <a:cs typeface="Calibri" pitchFamily="34" charset="-120"/>
              </a:rPr>
              <a:t>L'agent choisit lui-même quels Tools appeler (logique ReAct). Idéal pour démarrer vite : instructions + Tools suffisent.</a:t>
            </a:r>
            <a:endParaRPr lang="en-US" sz="1200" dirty="0"/>
          </a:p>
        </p:txBody>
      </p:sp>
      <p:sp>
        <p:nvSpPr>
          <p:cNvPr id="12" name="Shape 10"/>
          <p:cNvSpPr/>
          <p:nvPr/>
        </p:nvSpPr>
        <p:spPr>
          <a:xfrm>
            <a:off x="804672" y="4846320"/>
            <a:ext cx="3099816" cy="0"/>
          </a:xfrm>
          <a:prstGeom prst="line">
            <a:avLst/>
          </a:prstGeom>
          <a:noFill/>
          <a:ln w="12700">
            <a:solidFill>
              <a:srgbClr val="E3E7F3"/>
            </a:solidFill>
            <a:prstDash val="solid"/>
          </a:ln>
        </p:spPr>
      </p:sp>
      <p:sp>
        <p:nvSpPr>
          <p:cNvPr id="13" name="Text 11"/>
          <p:cNvSpPr/>
          <p:nvPr/>
        </p:nvSpPr>
        <p:spPr>
          <a:xfrm>
            <a:off x="804672" y="4983480"/>
            <a:ext cx="3099816" cy="822960"/>
          </a:xfrm>
          <a:prstGeom prst="rect">
            <a:avLst/>
          </a:prstGeom>
          <a:noFill/>
          <a:ln/>
        </p:spPr>
        <p:txBody>
          <a:bodyPr wrap="square" rtlCol="0" anchor="ctr"/>
          <a:lstStyle/>
          <a:p>
            <a:pPr indent="0" marL="0">
              <a:lnSpc>
                <a:spcPts val="1500"/>
              </a:lnSpc>
              <a:buNone/>
            </a:pPr>
            <a:r>
              <a:rPr lang="en-US" sz="1100" b="1" i="1" dirty="0">
                <a:solidFill>
                  <a:srgbClr val="1E2761"/>
                </a:solidFill>
                <a:latin typeface="Calibri" pitchFamily="34" charset="0"/>
                <a:ea typeface="Calibri" pitchFamily="34" charset="-122"/>
                <a:cs typeface="Calibri" pitchFamily="34" charset="-120"/>
              </a:rPr>
              <a:t>Adapté à nos premiers cas d'usage</a:t>
            </a:r>
            <a:endParaRPr lang="en-US" sz="1100" dirty="0"/>
          </a:p>
        </p:txBody>
      </p:sp>
      <p:sp>
        <p:nvSpPr>
          <p:cNvPr id="14" name="Shape 12"/>
          <p:cNvSpPr/>
          <p:nvPr/>
        </p:nvSpPr>
        <p:spPr>
          <a:xfrm>
            <a:off x="4379976" y="1600200"/>
            <a:ext cx="3611880" cy="4480560"/>
          </a:xfrm>
          <a:prstGeom prst="roundRect">
            <a:avLst>
              <a:gd name="adj" fmla="val 2532"/>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15" name="Shape 13"/>
          <p:cNvSpPr/>
          <p:nvPr/>
        </p:nvSpPr>
        <p:spPr>
          <a:xfrm>
            <a:off x="4379976" y="1600200"/>
            <a:ext cx="3611880" cy="822960"/>
          </a:xfrm>
          <a:prstGeom prst="roundRect">
            <a:avLst>
              <a:gd name="adj" fmla="val 11111"/>
            </a:avLst>
          </a:prstGeom>
          <a:solidFill>
            <a:srgbClr val="1E2761"/>
          </a:solidFill>
          <a:ln/>
        </p:spPr>
      </p:sp>
      <p:sp>
        <p:nvSpPr>
          <p:cNvPr id="16" name="Shape 14"/>
          <p:cNvSpPr/>
          <p:nvPr/>
        </p:nvSpPr>
        <p:spPr>
          <a:xfrm>
            <a:off x="4379976" y="2011680"/>
            <a:ext cx="3611880" cy="411480"/>
          </a:xfrm>
          <a:prstGeom prst="rect">
            <a:avLst/>
          </a:prstGeom>
          <a:solidFill>
            <a:srgbClr val="1E2761"/>
          </a:solidFill>
          <a:ln/>
        </p:spPr>
      </p:sp>
      <p:sp>
        <p:nvSpPr>
          <p:cNvPr id="17" name="Shape 15"/>
          <p:cNvSpPr/>
          <p:nvPr/>
        </p:nvSpPr>
        <p:spPr>
          <a:xfrm>
            <a:off x="4608576" y="1783080"/>
            <a:ext cx="457200" cy="457200"/>
          </a:xfrm>
          <a:prstGeom prst="ellipse">
            <a:avLst/>
          </a:prstGeom>
          <a:solidFill>
            <a:srgbClr val="E8A33D"/>
          </a:solidFill>
          <a:ln/>
        </p:spPr>
      </p:sp>
      <p:sp>
        <p:nvSpPr>
          <p:cNvPr id="18" name="Text 16"/>
          <p:cNvSpPr/>
          <p:nvPr/>
        </p:nvSpPr>
        <p:spPr>
          <a:xfrm>
            <a:off x="4608576" y="1783080"/>
            <a:ext cx="45720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5202936" y="1709928"/>
            <a:ext cx="2606040" cy="32004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Agent Visuel Structuré</a:t>
            </a:r>
            <a:endParaRPr lang="en-US" sz="1450" dirty="0"/>
          </a:p>
        </p:txBody>
      </p:sp>
      <p:sp>
        <p:nvSpPr>
          <p:cNvPr id="20" name="Text 18"/>
          <p:cNvSpPr/>
          <p:nvPr/>
        </p:nvSpPr>
        <p:spPr>
          <a:xfrm>
            <a:off x="5202936" y="2029968"/>
            <a:ext cx="2606040" cy="2743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Peu de code</a:t>
            </a:r>
            <a:endParaRPr lang="en-US" sz="1050" dirty="0"/>
          </a:p>
        </p:txBody>
      </p:sp>
      <p:sp>
        <p:nvSpPr>
          <p:cNvPr id="21" name="Text 19"/>
          <p:cNvSpPr/>
          <p:nvPr/>
        </p:nvSpPr>
        <p:spPr>
          <a:xfrm>
            <a:off x="4636008" y="2651760"/>
            <a:ext cx="3099816" cy="2103120"/>
          </a:xfrm>
          <a:prstGeom prst="rect">
            <a:avLst/>
          </a:prstGeom>
          <a:noFill/>
          <a:ln/>
        </p:spPr>
        <p:txBody>
          <a:bodyPr wrap="square" rtlCol="0" anchor="ctr"/>
          <a:lstStyle/>
          <a:p>
            <a:pPr indent="0" marL="0">
              <a:lnSpc>
                <a:spcPts val="1700"/>
              </a:lnSpc>
              <a:buNone/>
            </a:pPr>
            <a:r>
              <a:rPr lang="en-US" sz="1200" dirty="0">
                <a:solidFill>
                  <a:srgbClr val="5B6472"/>
                </a:solidFill>
                <a:latin typeface="Calibri" pitchFamily="34" charset="0"/>
                <a:ea typeface="Calibri" pitchFamily="34" charset="-122"/>
                <a:cs typeface="Calibri" pitchFamily="34" charset="-120"/>
              </a:rPr>
              <a:t>Enchaînement de blocs avec une logique déterministe : on maîtrise précisément le déroulé, utile pour des process encadrés.</a:t>
            </a:r>
            <a:endParaRPr lang="en-US" sz="1200" dirty="0"/>
          </a:p>
        </p:txBody>
      </p:sp>
      <p:sp>
        <p:nvSpPr>
          <p:cNvPr id="22" name="Shape 20"/>
          <p:cNvSpPr/>
          <p:nvPr/>
        </p:nvSpPr>
        <p:spPr>
          <a:xfrm>
            <a:off x="4636008" y="4846320"/>
            <a:ext cx="3099816" cy="0"/>
          </a:xfrm>
          <a:prstGeom prst="line">
            <a:avLst/>
          </a:prstGeom>
          <a:noFill/>
          <a:ln w="12700">
            <a:solidFill>
              <a:srgbClr val="E3E7F3"/>
            </a:solidFill>
            <a:prstDash val="solid"/>
          </a:ln>
        </p:spPr>
      </p:sp>
      <p:sp>
        <p:nvSpPr>
          <p:cNvPr id="23" name="Text 21"/>
          <p:cNvSpPr/>
          <p:nvPr/>
        </p:nvSpPr>
        <p:spPr>
          <a:xfrm>
            <a:off x="4636008" y="4983480"/>
            <a:ext cx="3099816" cy="822960"/>
          </a:xfrm>
          <a:prstGeom prst="rect">
            <a:avLst/>
          </a:prstGeom>
          <a:noFill/>
          <a:ln/>
        </p:spPr>
        <p:txBody>
          <a:bodyPr wrap="square" rtlCol="0" anchor="ctr"/>
          <a:lstStyle/>
          <a:p>
            <a:pPr indent="0" marL="0">
              <a:lnSpc>
                <a:spcPts val="1500"/>
              </a:lnSpc>
              <a:buNone/>
            </a:pPr>
            <a:r>
              <a:rPr lang="en-US" sz="1100" b="1" i="1" dirty="0">
                <a:solidFill>
                  <a:srgbClr val="1E2761"/>
                </a:solidFill>
                <a:latin typeface="Calibri" pitchFamily="34" charset="0"/>
                <a:ea typeface="Calibri" pitchFamily="34" charset="-122"/>
                <a:cs typeface="Calibri" pitchFamily="34" charset="-120"/>
              </a:rPr>
              <a:t>Adapté aux processus normés (Changements)</a:t>
            </a:r>
            <a:endParaRPr lang="en-US" sz="1100" dirty="0"/>
          </a:p>
        </p:txBody>
      </p:sp>
      <p:sp>
        <p:nvSpPr>
          <p:cNvPr id="24" name="Shape 22"/>
          <p:cNvSpPr/>
          <p:nvPr/>
        </p:nvSpPr>
        <p:spPr>
          <a:xfrm>
            <a:off x="8211312" y="1600200"/>
            <a:ext cx="3611880" cy="4480560"/>
          </a:xfrm>
          <a:prstGeom prst="roundRect">
            <a:avLst>
              <a:gd name="adj" fmla="val 2532"/>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25" name="Shape 23"/>
          <p:cNvSpPr/>
          <p:nvPr/>
        </p:nvSpPr>
        <p:spPr>
          <a:xfrm>
            <a:off x="8211312" y="1600200"/>
            <a:ext cx="3611880" cy="822960"/>
          </a:xfrm>
          <a:prstGeom prst="roundRect">
            <a:avLst>
              <a:gd name="adj" fmla="val 11111"/>
            </a:avLst>
          </a:prstGeom>
          <a:solidFill>
            <a:srgbClr val="1E2761"/>
          </a:solidFill>
          <a:ln/>
        </p:spPr>
      </p:sp>
      <p:sp>
        <p:nvSpPr>
          <p:cNvPr id="26" name="Shape 24"/>
          <p:cNvSpPr/>
          <p:nvPr/>
        </p:nvSpPr>
        <p:spPr>
          <a:xfrm>
            <a:off x="8211312" y="2011680"/>
            <a:ext cx="3611880" cy="411480"/>
          </a:xfrm>
          <a:prstGeom prst="rect">
            <a:avLst/>
          </a:prstGeom>
          <a:solidFill>
            <a:srgbClr val="1E2761"/>
          </a:solidFill>
          <a:ln/>
        </p:spPr>
      </p:sp>
      <p:sp>
        <p:nvSpPr>
          <p:cNvPr id="27" name="Shape 25"/>
          <p:cNvSpPr/>
          <p:nvPr/>
        </p:nvSpPr>
        <p:spPr>
          <a:xfrm>
            <a:off x="8439912" y="1783080"/>
            <a:ext cx="457200" cy="457200"/>
          </a:xfrm>
          <a:prstGeom prst="ellipse">
            <a:avLst/>
          </a:prstGeom>
          <a:solidFill>
            <a:srgbClr val="E8A33D"/>
          </a:solidFill>
          <a:ln/>
        </p:spPr>
      </p:sp>
      <p:sp>
        <p:nvSpPr>
          <p:cNvPr id="28" name="Text 26"/>
          <p:cNvSpPr/>
          <p:nvPr/>
        </p:nvSpPr>
        <p:spPr>
          <a:xfrm>
            <a:off x="8439912" y="1783080"/>
            <a:ext cx="45720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9034272" y="1709928"/>
            <a:ext cx="2606040" cy="32004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Agent de Code</a:t>
            </a:r>
            <a:endParaRPr lang="en-US" sz="1450" dirty="0"/>
          </a:p>
        </p:txBody>
      </p:sp>
      <p:sp>
        <p:nvSpPr>
          <p:cNvPr id="30" name="Text 28"/>
          <p:cNvSpPr/>
          <p:nvPr/>
        </p:nvSpPr>
        <p:spPr>
          <a:xfrm>
            <a:off x="9034272" y="2029968"/>
            <a:ext cx="2606040" cy="2743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Full code</a:t>
            </a:r>
            <a:endParaRPr lang="en-US" sz="1050" dirty="0"/>
          </a:p>
        </p:txBody>
      </p:sp>
      <p:sp>
        <p:nvSpPr>
          <p:cNvPr id="31" name="Text 29"/>
          <p:cNvSpPr/>
          <p:nvPr/>
        </p:nvSpPr>
        <p:spPr>
          <a:xfrm>
            <a:off x="8467344" y="2651760"/>
            <a:ext cx="3099816" cy="2103120"/>
          </a:xfrm>
          <a:prstGeom prst="rect">
            <a:avLst/>
          </a:prstGeom>
          <a:noFill/>
          <a:ln/>
        </p:spPr>
        <p:txBody>
          <a:bodyPr wrap="square" rtlCol="0" anchor="ctr"/>
          <a:lstStyle/>
          <a:p>
            <a:pPr indent="0" marL="0">
              <a:lnSpc>
                <a:spcPts val="1700"/>
              </a:lnSpc>
              <a:buNone/>
            </a:pPr>
            <a:r>
              <a:rPr lang="en-US" sz="1200" dirty="0">
                <a:solidFill>
                  <a:srgbClr val="5B6472"/>
                </a:solidFill>
                <a:latin typeface="Calibri" pitchFamily="34" charset="0"/>
                <a:ea typeface="Calibri" pitchFamily="34" charset="-122"/>
                <a:cs typeface="Calibri" pitchFamily="34" charset="-120"/>
              </a:rPr>
              <a:t>Contrôle total : orchestration multi-agents, frameworks (LangChain…), logique métier avancée.</a:t>
            </a:r>
            <a:endParaRPr lang="en-US" sz="1200" dirty="0"/>
          </a:p>
        </p:txBody>
      </p:sp>
      <p:sp>
        <p:nvSpPr>
          <p:cNvPr id="32" name="Shape 30"/>
          <p:cNvSpPr/>
          <p:nvPr/>
        </p:nvSpPr>
        <p:spPr>
          <a:xfrm>
            <a:off x="8467344" y="4846320"/>
            <a:ext cx="3099816" cy="0"/>
          </a:xfrm>
          <a:prstGeom prst="line">
            <a:avLst/>
          </a:prstGeom>
          <a:noFill/>
          <a:ln w="12700">
            <a:solidFill>
              <a:srgbClr val="E3E7F3"/>
            </a:solidFill>
            <a:prstDash val="solid"/>
          </a:ln>
        </p:spPr>
      </p:sp>
      <p:sp>
        <p:nvSpPr>
          <p:cNvPr id="33" name="Text 31"/>
          <p:cNvSpPr/>
          <p:nvPr/>
        </p:nvSpPr>
        <p:spPr>
          <a:xfrm>
            <a:off x="8467344" y="4983480"/>
            <a:ext cx="3099816" cy="822960"/>
          </a:xfrm>
          <a:prstGeom prst="rect">
            <a:avLst/>
          </a:prstGeom>
          <a:noFill/>
          <a:ln/>
        </p:spPr>
        <p:txBody>
          <a:bodyPr wrap="square" rtlCol="0" anchor="ctr"/>
          <a:lstStyle/>
          <a:p>
            <a:pPr indent="0" marL="0">
              <a:lnSpc>
                <a:spcPts val="1500"/>
              </a:lnSpc>
              <a:buNone/>
            </a:pPr>
            <a:r>
              <a:rPr lang="en-US" sz="1100" b="1" i="1" dirty="0">
                <a:solidFill>
                  <a:srgbClr val="1E2761"/>
                </a:solidFill>
                <a:latin typeface="Calibri" pitchFamily="34" charset="0"/>
                <a:ea typeface="Calibri" pitchFamily="34" charset="-122"/>
                <a:cs typeface="Calibri" pitchFamily="34" charset="-120"/>
              </a:rPr>
              <a:t>Adapté aux cas complexes / multi-agents</a:t>
            </a:r>
            <a:endParaRPr lang="en-US" sz="1100" dirty="0"/>
          </a:p>
        </p:txBody>
      </p:sp>
      <p:sp>
        <p:nvSpPr>
          <p:cNvPr id="34" name="Text 32"/>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35" name="Text 3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LES FONDAMENTAUX</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Les Tools : ce que peuvent « faire » nos agents</a:t>
            </a:r>
            <a:endParaRPr lang="en-US" sz="3000" dirty="0"/>
          </a:p>
        </p:txBody>
      </p:sp>
      <p:sp>
        <p:nvSpPr>
          <p:cNvPr id="4" name="Text 2"/>
          <p:cNvSpPr/>
          <p:nvPr/>
        </p:nvSpPr>
        <p:spPr>
          <a:xfrm>
            <a:off x="548640" y="1508760"/>
            <a:ext cx="10972800" cy="457200"/>
          </a:xfrm>
          <a:prstGeom prst="rect">
            <a:avLst/>
          </a:prstGeom>
          <a:noFill/>
          <a:ln/>
        </p:spPr>
        <p:txBody>
          <a:bodyPr wrap="square" rtlCol="0" anchor="ctr"/>
          <a:lstStyle/>
          <a:p>
            <a:pPr indent="0" marL="0">
              <a:buNone/>
            </a:pPr>
            <a:r>
              <a:rPr lang="en-US" sz="1300" dirty="0">
                <a:solidFill>
                  <a:srgbClr val="5B6472"/>
                </a:solidFill>
                <a:latin typeface="Calibri" pitchFamily="34" charset="0"/>
                <a:ea typeface="Calibri" pitchFamily="34" charset="-122"/>
                <a:cs typeface="Calibri" pitchFamily="34" charset="-120"/>
              </a:rPr>
              <a:t>Dataiku fournit une bibliothèque de Tools prêts à l'emploi, sécurisés et audités. On peut aussi créer ses propres Tools sur-mesure.</a:t>
            </a:r>
            <a:endParaRPr lang="en-US" sz="1300" dirty="0"/>
          </a:p>
        </p:txBody>
      </p:sp>
      <p:sp>
        <p:nvSpPr>
          <p:cNvPr id="5" name="Shape 3"/>
          <p:cNvSpPr/>
          <p:nvPr/>
        </p:nvSpPr>
        <p:spPr>
          <a:xfrm>
            <a:off x="548640" y="2203704"/>
            <a:ext cx="384048" cy="384048"/>
          </a:xfrm>
          <a:prstGeom prst="ellipse">
            <a:avLst/>
          </a:prstGeom>
          <a:solidFill>
            <a:srgbClr val="CADCFC"/>
          </a:solidFill>
          <a:ln/>
        </p:spPr>
      </p:sp>
      <p:sp>
        <p:nvSpPr>
          <p:cNvPr id="6" name="Text 4"/>
          <p:cNvSpPr/>
          <p:nvPr/>
        </p:nvSpPr>
        <p:spPr>
          <a:xfrm>
            <a:off x="548640" y="2203704"/>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7" name="Text 5"/>
          <p:cNvSpPr/>
          <p:nvPr/>
        </p:nvSpPr>
        <p:spPr>
          <a:xfrm>
            <a:off x="1078992" y="2121408"/>
            <a:ext cx="493776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Recherche dans un dataset</a:t>
            </a:r>
            <a:endParaRPr lang="en-US" sz="1250" dirty="0"/>
          </a:p>
        </p:txBody>
      </p:sp>
      <p:sp>
        <p:nvSpPr>
          <p:cNvPr id="8" name="Text 6"/>
          <p:cNvSpPr/>
          <p:nvPr/>
        </p:nvSpPr>
        <p:spPr>
          <a:xfrm>
            <a:off x="1078992" y="2404872"/>
            <a:ext cx="4937760" cy="502920"/>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Retrouver des enregistrements (ex : historique des changements, CMDB).</a:t>
            </a:r>
            <a:endParaRPr lang="en-US" sz="1050" dirty="0"/>
          </a:p>
        </p:txBody>
      </p:sp>
      <p:sp>
        <p:nvSpPr>
          <p:cNvPr id="9" name="Shape 7"/>
          <p:cNvSpPr/>
          <p:nvPr/>
        </p:nvSpPr>
        <p:spPr>
          <a:xfrm>
            <a:off x="548640" y="3374136"/>
            <a:ext cx="384048" cy="384048"/>
          </a:xfrm>
          <a:prstGeom prst="ellipse">
            <a:avLst/>
          </a:prstGeom>
          <a:solidFill>
            <a:srgbClr val="CADCFC"/>
          </a:solidFill>
          <a:ln/>
        </p:spPr>
      </p:sp>
      <p:sp>
        <p:nvSpPr>
          <p:cNvPr id="10" name="Text 8"/>
          <p:cNvSpPr/>
          <p:nvPr/>
        </p:nvSpPr>
        <p:spPr>
          <a:xfrm>
            <a:off x="548640" y="3374136"/>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1078992" y="3291840"/>
            <a:ext cx="493776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Recherche documentaire</a:t>
            </a:r>
            <a:endParaRPr lang="en-US" sz="1250" dirty="0"/>
          </a:p>
        </p:txBody>
      </p:sp>
      <p:sp>
        <p:nvSpPr>
          <p:cNvPr id="12" name="Text 10"/>
          <p:cNvSpPr/>
          <p:nvPr/>
        </p:nvSpPr>
        <p:spPr>
          <a:xfrm>
            <a:off x="1078992" y="3575304"/>
            <a:ext cx="4937760" cy="502920"/>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Interroger une base de connaissances (KB) — procédures, post-mortems.</a:t>
            </a:r>
            <a:endParaRPr lang="en-US" sz="1050" dirty="0"/>
          </a:p>
        </p:txBody>
      </p:sp>
      <p:sp>
        <p:nvSpPr>
          <p:cNvPr id="13" name="Shape 11"/>
          <p:cNvSpPr/>
          <p:nvPr/>
        </p:nvSpPr>
        <p:spPr>
          <a:xfrm>
            <a:off x="548640" y="4544568"/>
            <a:ext cx="384048" cy="384048"/>
          </a:xfrm>
          <a:prstGeom prst="ellipse">
            <a:avLst/>
          </a:prstGeom>
          <a:solidFill>
            <a:srgbClr val="CADCFC"/>
          </a:solidFill>
          <a:ln/>
        </p:spPr>
      </p:sp>
      <p:sp>
        <p:nvSpPr>
          <p:cNvPr id="14" name="Text 12"/>
          <p:cNvSpPr/>
          <p:nvPr/>
        </p:nvSpPr>
        <p:spPr>
          <a:xfrm>
            <a:off x="548640" y="4544568"/>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1078992" y="4462272"/>
            <a:ext cx="493776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Prédiction ML</a:t>
            </a:r>
            <a:endParaRPr lang="en-US" sz="1250" dirty="0"/>
          </a:p>
        </p:txBody>
      </p:sp>
      <p:sp>
        <p:nvSpPr>
          <p:cNvPr id="16" name="Text 14"/>
          <p:cNvSpPr/>
          <p:nvPr/>
        </p:nvSpPr>
        <p:spPr>
          <a:xfrm>
            <a:off x="1078992" y="4745736"/>
            <a:ext cx="4937760" cy="502920"/>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Appeler un modèle entraîné (ex : criticité, risque de récidive).</a:t>
            </a:r>
            <a:endParaRPr lang="en-US" sz="1050" dirty="0"/>
          </a:p>
        </p:txBody>
      </p:sp>
      <p:sp>
        <p:nvSpPr>
          <p:cNvPr id="17" name="Shape 15"/>
          <p:cNvSpPr/>
          <p:nvPr/>
        </p:nvSpPr>
        <p:spPr>
          <a:xfrm>
            <a:off x="548640" y="5715000"/>
            <a:ext cx="384048" cy="384048"/>
          </a:xfrm>
          <a:prstGeom prst="ellipse">
            <a:avLst/>
          </a:prstGeom>
          <a:solidFill>
            <a:srgbClr val="CADCFC"/>
          </a:solidFill>
          <a:ln/>
        </p:spPr>
      </p:sp>
      <p:sp>
        <p:nvSpPr>
          <p:cNvPr id="18" name="Text 16"/>
          <p:cNvSpPr/>
          <p:nvPr/>
        </p:nvSpPr>
        <p:spPr>
          <a:xfrm>
            <a:off x="548640" y="5715000"/>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1078992" y="5632704"/>
            <a:ext cx="493776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Alerte email</a:t>
            </a:r>
            <a:endParaRPr lang="en-US" sz="1250" dirty="0"/>
          </a:p>
        </p:txBody>
      </p:sp>
      <p:sp>
        <p:nvSpPr>
          <p:cNvPr id="20" name="Text 18"/>
          <p:cNvSpPr/>
          <p:nvPr/>
        </p:nvSpPr>
        <p:spPr>
          <a:xfrm>
            <a:off x="1078992" y="5916168"/>
            <a:ext cx="4937760" cy="502920"/>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Notifier automatiquement une équipe ou un manager.</a:t>
            </a:r>
            <a:endParaRPr lang="en-US" sz="1050" dirty="0"/>
          </a:p>
        </p:txBody>
      </p:sp>
      <p:sp>
        <p:nvSpPr>
          <p:cNvPr id="21" name="Shape 19"/>
          <p:cNvSpPr/>
          <p:nvPr/>
        </p:nvSpPr>
        <p:spPr>
          <a:xfrm>
            <a:off x="6355080" y="2203704"/>
            <a:ext cx="384048" cy="384048"/>
          </a:xfrm>
          <a:prstGeom prst="ellipse">
            <a:avLst/>
          </a:prstGeom>
          <a:solidFill>
            <a:srgbClr val="CADCFC"/>
          </a:solidFill>
          <a:ln/>
        </p:spPr>
      </p:sp>
      <p:sp>
        <p:nvSpPr>
          <p:cNvPr id="22" name="Text 20"/>
          <p:cNvSpPr/>
          <p:nvPr/>
        </p:nvSpPr>
        <p:spPr>
          <a:xfrm>
            <a:off x="6355080" y="2203704"/>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6885432" y="2121408"/>
            <a:ext cx="493776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Recherche web</a:t>
            </a:r>
            <a:endParaRPr lang="en-US" sz="1250" dirty="0"/>
          </a:p>
        </p:txBody>
      </p:sp>
      <p:sp>
        <p:nvSpPr>
          <p:cNvPr id="24" name="Text 22"/>
          <p:cNvSpPr/>
          <p:nvPr/>
        </p:nvSpPr>
        <p:spPr>
          <a:xfrm>
            <a:off x="6885432" y="2404872"/>
            <a:ext cx="4937760" cy="502920"/>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Compléter la réponse avec une information externe à jour.</a:t>
            </a:r>
            <a:endParaRPr lang="en-US" sz="1050" dirty="0"/>
          </a:p>
        </p:txBody>
      </p:sp>
      <p:sp>
        <p:nvSpPr>
          <p:cNvPr id="25" name="Shape 23"/>
          <p:cNvSpPr/>
          <p:nvPr/>
        </p:nvSpPr>
        <p:spPr>
          <a:xfrm>
            <a:off x="6355080" y="3374136"/>
            <a:ext cx="384048" cy="384048"/>
          </a:xfrm>
          <a:prstGeom prst="ellipse">
            <a:avLst/>
          </a:prstGeom>
          <a:solidFill>
            <a:srgbClr val="CADCFC"/>
          </a:solidFill>
          <a:ln/>
        </p:spPr>
      </p:sp>
      <p:sp>
        <p:nvSpPr>
          <p:cNvPr id="26" name="Text 24"/>
          <p:cNvSpPr/>
          <p:nvPr/>
        </p:nvSpPr>
        <p:spPr>
          <a:xfrm>
            <a:off x="6355080" y="3374136"/>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6885432" y="3291840"/>
            <a:ext cx="493776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Outils MCP / API</a:t>
            </a:r>
            <a:endParaRPr lang="en-US" sz="1250" dirty="0"/>
          </a:p>
        </p:txBody>
      </p:sp>
      <p:sp>
        <p:nvSpPr>
          <p:cNvPr id="28" name="Text 26"/>
          <p:cNvSpPr/>
          <p:nvPr/>
        </p:nvSpPr>
        <p:spPr>
          <a:xfrm>
            <a:off x="6885432" y="3575304"/>
            <a:ext cx="4937760" cy="502920"/>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Se connecter à des systèmes tiers (ITSM, monitoring, CMDB…).</a:t>
            </a:r>
            <a:endParaRPr lang="en-US" sz="1050" dirty="0"/>
          </a:p>
        </p:txBody>
      </p:sp>
      <p:sp>
        <p:nvSpPr>
          <p:cNvPr id="29" name="Shape 27"/>
          <p:cNvSpPr/>
          <p:nvPr/>
        </p:nvSpPr>
        <p:spPr>
          <a:xfrm>
            <a:off x="6355080" y="4544568"/>
            <a:ext cx="384048" cy="384048"/>
          </a:xfrm>
          <a:prstGeom prst="ellipse">
            <a:avLst/>
          </a:prstGeom>
          <a:solidFill>
            <a:srgbClr val="E8A33D"/>
          </a:solidFill>
          <a:ln/>
        </p:spPr>
      </p:sp>
      <p:sp>
        <p:nvSpPr>
          <p:cNvPr id="30" name="Text 28"/>
          <p:cNvSpPr/>
          <p:nvPr/>
        </p:nvSpPr>
        <p:spPr>
          <a:xfrm>
            <a:off x="6355080" y="45445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6885432" y="4462272"/>
            <a:ext cx="493776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Tool Python personnalisé</a:t>
            </a:r>
            <a:endParaRPr lang="en-US" sz="1250" dirty="0"/>
          </a:p>
        </p:txBody>
      </p:sp>
      <p:sp>
        <p:nvSpPr>
          <p:cNvPr id="32" name="Text 30"/>
          <p:cNvSpPr/>
          <p:nvPr/>
        </p:nvSpPr>
        <p:spPr>
          <a:xfrm>
            <a:off x="6885432" y="4745736"/>
            <a:ext cx="4937760" cy="502920"/>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Coder une logique métier spécifique (notre agent Incident→Changement).</a:t>
            </a:r>
            <a:endParaRPr lang="en-US" sz="1050" dirty="0"/>
          </a:p>
        </p:txBody>
      </p:sp>
      <p:sp>
        <p:nvSpPr>
          <p:cNvPr id="33" name="Shape 31"/>
          <p:cNvSpPr/>
          <p:nvPr/>
        </p:nvSpPr>
        <p:spPr>
          <a:xfrm>
            <a:off x="6355080" y="5715000"/>
            <a:ext cx="384048" cy="384048"/>
          </a:xfrm>
          <a:prstGeom prst="ellipse">
            <a:avLst/>
          </a:prstGeom>
          <a:solidFill>
            <a:srgbClr val="CADCFC"/>
          </a:solidFill>
          <a:ln/>
        </p:spPr>
      </p:sp>
      <p:sp>
        <p:nvSpPr>
          <p:cNvPr id="34" name="Text 32"/>
          <p:cNvSpPr/>
          <p:nvPr/>
        </p:nvSpPr>
        <p:spPr>
          <a:xfrm>
            <a:off x="6355080" y="5715000"/>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6885432" y="5632704"/>
            <a:ext cx="4937760" cy="29260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Tool en Plugin</a:t>
            </a:r>
            <a:endParaRPr lang="en-US" sz="1250" dirty="0"/>
          </a:p>
        </p:txBody>
      </p:sp>
      <p:sp>
        <p:nvSpPr>
          <p:cNvPr id="36" name="Text 34"/>
          <p:cNvSpPr/>
          <p:nvPr/>
        </p:nvSpPr>
        <p:spPr>
          <a:xfrm>
            <a:off x="6885432" y="5916168"/>
            <a:ext cx="4937760" cy="502920"/>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Packager un Tool pour le réutiliser facilement dans toute l'équipe.</a:t>
            </a:r>
            <a:endParaRPr lang="en-US" sz="1050" dirty="0"/>
          </a:p>
        </p:txBody>
      </p:sp>
      <p:sp>
        <p:nvSpPr>
          <p:cNvPr id="37" name="Text 35"/>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38" name="Text 3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41B4D"/>
          </a:solidFill>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AGENT HUB</a:t>
            </a:r>
            <a:endParaRPr lang="en-US" sz="1200" dirty="0"/>
          </a:p>
        </p:txBody>
      </p:sp>
      <p:sp>
        <p:nvSpPr>
          <p:cNvPr id="4" name="Text 2"/>
          <p:cNvSpPr/>
          <p:nvPr/>
        </p:nvSpPr>
        <p:spPr>
          <a:xfrm>
            <a:off x="548640" y="749808"/>
            <a:ext cx="100584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Le portail central de nos agents</a:t>
            </a:r>
            <a:endParaRPr lang="en-US" sz="2800" dirty="0"/>
          </a:p>
        </p:txBody>
      </p:sp>
      <p:sp>
        <p:nvSpPr>
          <p:cNvPr id="5" name="Text 3"/>
          <p:cNvSpPr/>
          <p:nvPr/>
        </p:nvSpPr>
        <p:spPr>
          <a:xfrm>
            <a:off x="548640" y="1463040"/>
            <a:ext cx="7863840" cy="822960"/>
          </a:xfrm>
          <a:prstGeom prst="rect">
            <a:avLst/>
          </a:prstGeom>
          <a:noFill/>
          <a:ln/>
        </p:spPr>
        <p:txBody>
          <a:bodyPr wrap="square" rtlCol="0" anchor="ctr"/>
          <a:lstStyle/>
          <a:p>
            <a:pPr indent="0" marL="0">
              <a:lnSpc>
                <a:spcPts val="2000"/>
              </a:lnSpc>
              <a:buNone/>
            </a:pPr>
            <a:r>
              <a:rPr lang="en-US" sz="1350" dirty="0">
                <a:solidFill>
                  <a:srgbClr val="C7CEEA"/>
                </a:solidFill>
                <a:latin typeface="Calibri" pitchFamily="34" charset="0"/>
                <a:ea typeface="Calibri" pitchFamily="34" charset="-122"/>
                <a:cs typeface="Calibri" pitchFamily="34" charset="-120"/>
              </a:rPr>
              <a:t>Agent Hub est l'espace où toute l'organisation découvre, utilise et crée des agents approuvés — pendant que l'IT garde la main sur l'accès aux modèles, aux données et au cycle de vie des agents.</a:t>
            </a:r>
            <a:endParaRPr lang="en-US" sz="1350" dirty="0"/>
          </a:p>
        </p:txBody>
      </p:sp>
      <p:sp>
        <p:nvSpPr>
          <p:cNvPr id="6" name="Shape 4"/>
          <p:cNvSpPr/>
          <p:nvPr/>
        </p:nvSpPr>
        <p:spPr>
          <a:xfrm>
            <a:off x="8732520" y="3429000"/>
            <a:ext cx="1920240" cy="1005840"/>
          </a:xfrm>
          <a:prstGeom prst="roundRect">
            <a:avLst>
              <a:gd name="adj" fmla="val 9091"/>
            </a:avLst>
          </a:prstGeom>
          <a:solidFill>
            <a:srgbClr val="E8A33D"/>
          </a:solidFill>
          <a:ln/>
        </p:spPr>
      </p:sp>
      <p:sp>
        <p:nvSpPr>
          <p:cNvPr id="7" name="Text 5"/>
          <p:cNvSpPr/>
          <p:nvPr/>
        </p:nvSpPr>
        <p:spPr>
          <a:xfrm>
            <a:off x="8732520" y="3429000"/>
            <a:ext cx="1920240" cy="1005840"/>
          </a:xfrm>
          <a:prstGeom prst="rect">
            <a:avLst/>
          </a:prstGeom>
          <a:noFill/>
          <a:ln/>
        </p:spPr>
        <p:txBody>
          <a:bodyPr wrap="square"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AGENT</a:t>
            </a:r>
            <a:endParaRPr lang="en-US" sz="1400" dirty="0"/>
          </a:p>
          <a:p>
            <a:pPr algn="ctr" indent="0" marL="0">
              <a:buNone/>
            </a:pPr>
            <a:r>
              <a:rPr lang="en-US" sz="1400" b="1" dirty="0">
                <a:solidFill>
                  <a:srgbClr val="141B4D"/>
                </a:solidFill>
                <a:latin typeface="Calibri" pitchFamily="34" charset="0"/>
                <a:ea typeface="Calibri" pitchFamily="34" charset="-122"/>
                <a:cs typeface="Calibri" pitchFamily="34" charset="-120"/>
              </a:rPr>
              <a:t>HUB</a:t>
            </a:r>
            <a:endParaRPr lang="en-US" sz="1400" dirty="0"/>
          </a:p>
        </p:txBody>
      </p:sp>
      <p:sp>
        <p:nvSpPr>
          <p:cNvPr id="8" name="Shape 6"/>
          <p:cNvSpPr/>
          <p:nvPr/>
        </p:nvSpPr>
        <p:spPr>
          <a:xfrm>
            <a:off x="8186627" y="2946238"/>
            <a:ext cx="1506013" cy="985682"/>
          </a:xfrm>
          <a:prstGeom prst="line">
            <a:avLst/>
          </a:prstGeom>
          <a:noFill/>
          <a:ln w="15875">
            <a:solidFill>
              <a:srgbClr val="45508E"/>
            </a:solidFill>
            <a:prstDash val="solid"/>
          </a:ln>
        </p:spPr>
      </p:sp>
      <p:sp>
        <p:nvSpPr>
          <p:cNvPr id="9" name="Shape 7"/>
          <p:cNvSpPr/>
          <p:nvPr/>
        </p:nvSpPr>
        <p:spPr>
          <a:xfrm>
            <a:off x="7711139" y="2562190"/>
            <a:ext cx="950976" cy="768096"/>
          </a:xfrm>
          <a:prstGeom prst="ellipse">
            <a:avLst/>
          </a:prstGeom>
          <a:solidFill>
            <a:srgbClr val="222D6E"/>
          </a:solidFill>
          <a:ln w="12700">
            <a:solidFill>
              <a:srgbClr val="CADCFC"/>
            </a:solidFill>
            <a:prstDash val="solid"/>
          </a:ln>
        </p:spPr>
      </p:sp>
      <p:sp>
        <p:nvSpPr>
          <p:cNvPr id="10" name="Text 8"/>
          <p:cNvSpPr/>
          <p:nvPr/>
        </p:nvSpPr>
        <p:spPr>
          <a:xfrm>
            <a:off x="7637987" y="2562190"/>
            <a:ext cx="1097280" cy="76809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Agent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Incidents</a:t>
            </a:r>
            <a:endParaRPr lang="en-US" sz="850" dirty="0"/>
          </a:p>
        </p:txBody>
      </p:sp>
      <p:sp>
        <p:nvSpPr>
          <p:cNvPr id="11" name="Shape 9"/>
          <p:cNvSpPr/>
          <p:nvPr/>
        </p:nvSpPr>
        <p:spPr>
          <a:xfrm>
            <a:off x="9692640" y="2398471"/>
            <a:ext cx="9144" cy="1533449"/>
          </a:xfrm>
          <a:prstGeom prst="line">
            <a:avLst/>
          </a:prstGeom>
          <a:noFill/>
          <a:ln w="15875">
            <a:solidFill>
              <a:srgbClr val="45508E"/>
            </a:solidFill>
            <a:prstDash val="solid"/>
          </a:ln>
        </p:spPr>
      </p:sp>
      <p:sp>
        <p:nvSpPr>
          <p:cNvPr id="12" name="Shape 10"/>
          <p:cNvSpPr/>
          <p:nvPr/>
        </p:nvSpPr>
        <p:spPr>
          <a:xfrm>
            <a:off x="9217152" y="2014423"/>
            <a:ext cx="950976" cy="768096"/>
          </a:xfrm>
          <a:prstGeom prst="ellipse">
            <a:avLst/>
          </a:prstGeom>
          <a:solidFill>
            <a:srgbClr val="222D6E"/>
          </a:solidFill>
          <a:ln w="12700">
            <a:solidFill>
              <a:srgbClr val="CADCFC"/>
            </a:solidFill>
            <a:prstDash val="solid"/>
          </a:ln>
        </p:spPr>
      </p:sp>
      <p:sp>
        <p:nvSpPr>
          <p:cNvPr id="13" name="Text 11"/>
          <p:cNvSpPr/>
          <p:nvPr/>
        </p:nvSpPr>
        <p:spPr>
          <a:xfrm>
            <a:off x="9144000" y="2014423"/>
            <a:ext cx="1097280" cy="76809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Agent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Changements</a:t>
            </a:r>
            <a:endParaRPr lang="en-US" sz="850" dirty="0"/>
          </a:p>
        </p:txBody>
      </p:sp>
      <p:sp>
        <p:nvSpPr>
          <p:cNvPr id="14" name="Shape 12"/>
          <p:cNvSpPr/>
          <p:nvPr/>
        </p:nvSpPr>
        <p:spPr>
          <a:xfrm>
            <a:off x="9692640" y="2946238"/>
            <a:ext cx="1506013" cy="985682"/>
          </a:xfrm>
          <a:prstGeom prst="line">
            <a:avLst/>
          </a:prstGeom>
          <a:noFill/>
          <a:ln w="15875">
            <a:solidFill>
              <a:srgbClr val="45508E"/>
            </a:solidFill>
            <a:prstDash val="solid"/>
          </a:ln>
        </p:spPr>
      </p:sp>
      <p:sp>
        <p:nvSpPr>
          <p:cNvPr id="15" name="Shape 13"/>
          <p:cNvSpPr/>
          <p:nvPr/>
        </p:nvSpPr>
        <p:spPr>
          <a:xfrm>
            <a:off x="10723165" y="2562190"/>
            <a:ext cx="950976" cy="768096"/>
          </a:xfrm>
          <a:prstGeom prst="ellipse">
            <a:avLst/>
          </a:prstGeom>
          <a:solidFill>
            <a:srgbClr val="222D6E"/>
          </a:solidFill>
          <a:ln w="12700">
            <a:solidFill>
              <a:srgbClr val="CADCFC"/>
            </a:solidFill>
            <a:prstDash val="solid"/>
          </a:ln>
        </p:spPr>
      </p:sp>
      <p:sp>
        <p:nvSpPr>
          <p:cNvPr id="16" name="Text 14"/>
          <p:cNvSpPr/>
          <p:nvPr/>
        </p:nvSpPr>
        <p:spPr>
          <a:xfrm>
            <a:off x="10650013" y="2562190"/>
            <a:ext cx="1097280" cy="76809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Agent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Problèmes</a:t>
            </a:r>
            <a:endParaRPr lang="en-US" sz="850" dirty="0"/>
          </a:p>
        </p:txBody>
      </p:sp>
      <p:sp>
        <p:nvSpPr>
          <p:cNvPr id="17" name="Shape 15"/>
          <p:cNvSpPr/>
          <p:nvPr/>
        </p:nvSpPr>
        <p:spPr>
          <a:xfrm>
            <a:off x="9692640" y="3931920"/>
            <a:ext cx="1506013" cy="985682"/>
          </a:xfrm>
          <a:prstGeom prst="line">
            <a:avLst/>
          </a:prstGeom>
          <a:noFill/>
          <a:ln w="15875">
            <a:solidFill>
              <a:srgbClr val="45508E"/>
            </a:solidFill>
            <a:prstDash val="solid"/>
          </a:ln>
        </p:spPr>
      </p:sp>
      <p:sp>
        <p:nvSpPr>
          <p:cNvPr id="18" name="Shape 16"/>
          <p:cNvSpPr/>
          <p:nvPr/>
        </p:nvSpPr>
        <p:spPr>
          <a:xfrm>
            <a:off x="10723165" y="4533554"/>
            <a:ext cx="950976" cy="768096"/>
          </a:xfrm>
          <a:prstGeom prst="ellipse">
            <a:avLst/>
          </a:prstGeom>
          <a:solidFill>
            <a:srgbClr val="222D6E"/>
          </a:solidFill>
          <a:ln w="12700">
            <a:solidFill>
              <a:srgbClr val="CADCFC"/>
            </a:solidFill>
            <a:prstDash val="solid"/>
          </a:ln>
        </p:spPr>
      </p:sp>
      <p:sp>
        <p:nvSpPr>
          <p:cNvPr id="19" name="Text 17"/>
          <p:cNvSpPr/>
          <p:nvPr/>
        </p:nvSpPr>
        <p:spPr>
          <a:xfrm>
            <a:off x="10650013" y="4533554"/>
            <a:ext cx="1097280" cy="76809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Agent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QoS</a:t>
            </a:r>
            <a:endParaRPr lang="en-US" sz="850" dirty="0"/>
          </a:p>
        </p:txBody>
      </p:sp>
      <p:sp>
        <p:nvSpPr>
          <p:cNvPr id="20" name="Shape 18"/>
          <p:cNvSpPr/>
          <p:nvPr/>
        </p:nvSpPr>
        <p:spPr>
          <a:xfrm>
            <a:off x="9692640" y="3931920"/>
            <a:ext cx="9144" cy="1533449"/>
          </a:xfrm>
          <a:prstGeom prst="line">
            <a:avLst/>
          </a:prstGeom>
          <a:noFill/>
          <a:ln w="15875">
            <a:solidFill>
              <a:srgbClr val="45508E"/>
            </a:solidFill>
            <a:prstDash val="solid"/>
          </a:ln>
        </p:spPr>
      </p:sp>
      <p:sp>
        <p:nvSpPr>
          <p:cNvPr id="21" name="Shape 19"/>
          <p:cNvSpPr/>
          <p:nvPr/>
        </p:nvSpPr>
        <p:spPr>
          <a:xfrm>
            <a:off x="9217152" y="5081321"/>
            <a:ext cx="950976" cy="768096"/>
          </a:xfrm>
          <a:prstGeom prst="ellipse">
            <a:avLst/>
          </a:prstGeom>
          <a:solidFill>
            <a:srgbClr val="222D6E"/>
          </a:solidFill>
          <a:ln w="12700">
            <a:solidFill>
              <a:srgbClr val="CADCFC"/>
            </a:solidFill>
            <a:prstDash val="solid"/>
          </a:ln>
        </p:spPr>
      </p:sp>
      <p:sp>
        <p:nvSpPr>
          <p:cNvPr id="22" name="Text 20"/>
          <p:cNvSpPr/>
          <p:nvPr/>
        </p:nvSpPr>
        <p:spPr>
          <a:xfrm>
            <a:off x="9144000" y="5081321"/>
            <a:ext cx="1097280" cy="76809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Quick</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Agents</a:t>
            </a:r>
            <a:endParaRPr lang="en-US" sz="850" dirty="0"/>
          </a:p>
        </p:txBody>
      </p:sp>
      <p:sp>
        <p:nvSpPr>
          <p:cNvPr id="23" name="Shape 21"/>
          <p:cNvSpPr/>
          <p:nvPr/>
        </p:nvSpPr>
        <p:spPr>
          <a:xfrm>
            <a:off x="8186627" y="3931920"/>
            <a:ext cx="1506013" cy="985682"/>
          </a:xfrm>
          <a:prstGeom prst="line">
            <a:avLst/>
          </a:prstGeom>
          <a:noFill/>
          <a:ln w="15875">
            <a:solidFill>
              <a:srgbClr val="45508E"/>
            </a:solidFill>
            <a:prstDash val="solid"/>
          </a:ln>
        </p:spPr>
      </p:sp>
      <p:sp>
        <p:nvSpPr>
          <p:cNvPr id="24" name="Shape 22"/>
          <p:cNvSpPr/>
          <p:nvPr/>
        </p:nvSpPr>
        <p:spPr>
          <a:xfrm>
            <a:off x="7711139" y="4533554"/>
            <a:ext cx="950976" cy="768096"/>
          </a:xfrm>
          <a:prstGeom prst="ellipse">
            <a:avLst/>
          </a:prstGeom>
          <a:solidFill>
            <a:srgbClr val="222D6E"/>
          </a:solidFill>
          <a:ln w="12700">
            <a:solidFill>
              <a:srgbClr val="CADCFC"/>
            </a:solidFill>
            <a:prstDash val="solid"/>
          </a:ln>
        </p:spPr>
      </p:sp>
      <p:sp>
        <p:nvSpPr>
          <p:cNvPr id="25" name="Text 23"/>
          <p:cNvSpPr/>
          <p:nvPr/>
        </p:nvSpPr>
        <p:spPr>
          <a:xfrm>
            <a:off x="7637987" y="4533554"/>
            <a:ext cx="1097280" cy="76809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Autres</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équipes</a:t>
            </a:r>
            <a:endParaRPr lang="en-US" sz="850" dirty="0"/>
          </a:p>
        </p:txBody>
      </p:sp>
      <p:sp>
        <p:nvSpPr>
          <p:cNvPr id="26" name="Text 24"/>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8892C4"/>
                </a:solidFill>
                <a:latin typeface="Calibri" pitchFamily="34" charset="0"/>
                <a:ea typeface="Calibri" pitchFamily="34" charset="-122"/>
                <a:cs typeface="Calibri" pitchFamily="34" charset="-120"/>
              </a:rPr>
              <a:t>Équipe Service Management · Agents IA Dataiku</a:t>
            </a:r>
            <a:endParaRPr lang="en-US" sz="9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892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AGENT HUB</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Ce qu'Agent Hub apporte concrètement</a:t>
            </a:r>
            <a:endParaRPr lang="en-US" sz="3000" dirty="0"/>
          </a:p>
        </p:txBody>
      </p:sp>
      <p:sp>
        <p:nvSpPr>
          <p:cNvPr id="4" name="Shape 2"/>
          <p:cNvSpPr/>
          <p:nvPr/>
        </p:nvSpPr>
        <p:spPr>
          <a:xfrm>
            <a:off x="548640" y="1645920"/>
            <a:ext cx="5440680" cy="2148840"/>
          </a:xfrm>
          <a:prstGeom prst="roundRect">
            <a:avLst>
              <a:gd name="adj" fmla="val 4255"/>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5" name="Shape 3"/>
          <p:cNvSpPr/>
          <p:nvPr/>
        </p:nvSpPr>
        <p:spPr>
          <a:xfrm>
            <a:off x="822960" y="1920240"/>
            <a:ext cx="502920" cy="502920"/>
          </a:xfrm>
          <a:prstGeom prst="ellipse">
            <a:avLst/>
          </a:prstGeom>
          <a:solidFill>
            <a:srgbClr val="1E2761"/>
          </a:solidFill>
          <a:ln/>
        </p:spPr>
      </p:sp>
      <p:sp>
        <p:nvSpPr>
          <p:cNvPr id="6" name="Text 4"/>
          <p:cNvSpPr/>
          <p:nvPr/>
        </p:nvSpPr>
        <p:spPr>
          <a:xfrm>
            <a:off x="822960" y="192024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508760" y="1901952"/>
            <a:ext cx="4251960" cy="45720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Bibliothèque centralisée</a:t>
            </a:r>
            <a:endParaRPr lang="en-US" sz="1500" dirty="0"/>
          </a:p>
        </p:txBody>
      </p:sp>
      <p:sp>
        <p:nvSpPr>
          <p:cNvPr id="8" name="Text 6"/>
          <p:cNvSpPr/>
          <p:nvPr/>
        </p:nvSpPr>
        <p:spPr>
          <a:xfrm>
            <a:off x="822960" y="2560320"/>
            <a:ext cx="4892040" cy="1097280"/>
          </a:xfrm>
          <a:prstGeom prst="rect">
            <a:avLst/>
          </a:prstGeom>
          <a:noFill/>
          <a:ln/>
        </p:spPr>
        <p:txBody>
          <a:bodyPr wrap="square" rtlCol="0" anchor="ctr"/>
          <a:lstStyle/>
          <a:p>
            <a:pPr indent="0" marL="0">
              <a:lnSpc>
                <a:spcPts val="1600"/>
              </a:lnSpc>
              <a:buNone/>
            </a:pPr>
            <a:r>
              <a:rPr lang="en-US" sz="1150" dirty="0">
                <a:solidFill>
                  <a:srgbClr val="5B6472"/>
                </a:solidFill>
                <a:latin typeface="Calibri" pitchFamily="34" charset="0"/>
                <a:ea typeface="Calibri" pitchFamily="34" charset="-122"/>
                <a:cs typeface="Calibri" pitchFamily="34" charset="-120"/>
              </a:rPr>
              <a:t>Nos 4 agents (Incidents, Changements, Problèmes, QoS) accessibles depuis un seul portail, pour toute l'équipe.</a:t>
            </a:r>
            <a:endParaRPr lang="en-US" sz="1150" dirty="0"/>
          </a:p>
        </p:txBody>
      </p:sp>
      <p:sp>
        <p:nvSpPr>
          <p:cNvPr id="9" name="Shape 7"/>
          <p:cNvSpPr/>
          <p:nvPr/>
        </p:nvSpPr>
        <p:spPr>
          <a:xfrm>
            <a:off x="6355080" y="1645920"/>
            <a:ext cx="5440680" cy="2148840"/>
          </a:xfrm>
          <a:prstGeom prst="roundRect">
            <a:avLst>
              <a:gd name="adj" fmla="val 4255"/>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10" name="Shape 8"/>
          <p:cNvSpPr/>
          <p:nvPr/>
        </p:nvSpPr>
        <p:spPr>
          <a:xfrm>
            <a:off x="6629400" y="1920240"/>
            <a:ext cx="502920" cy="502920"/>
          </a:xfrm>
          <a:prstGeom prst="ellipse">
            <a:avLst/>
          </a:prstGeom>
          <a:solidFill>
            <a:srgbClr val="1E2761"/>
          </a:solidFill>
          <a:ln/>
        </p:spPr>
      </p:sp>
      <p:sp>
        <p:nvSpPr>
          <p:cNvPr id="11" name="Text 9"/>
          <p:cNvSpPr/>
          <p:nvPr/>
        </p:nvSpPr>
        <p:spPr>
          <a:xfrm>
            <a:off x="6629400" y="192024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315200" y="1901952"/>
            <a:ext cx="4251960" cy="45720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Orchestration multi-agents</a:t>
            </a:r>
            <a:endParaRPr lang="en-US" sz="1500" dirty="0"/>
          </a:p>
        </p:txBody>
      </p:sp>
      <p:sp>
        <p:nvSpPr>
          <p:cNvPr id="13" name="Text 11"/>
          <p:cNvSpPr/>
          <p:nvPr/>
        </p:nvSpPr>
        <p:spPr>
          <a:xfrm>
            <a:off x="6629400" y="2560320"/>
            <a:ext cx="4892040" cy="1097280"/>
          </a:xfrm>
          <a:prstGeom prst="rect">
            <a:avLst/>
          </a:prstGeom>
          <a:noFill/>
          <a:ln/>
        </p:spPr>
        <p:txBody>
          <a:bodyPr wrap="square" rtlCol="0" anchor="ctr"/>
          <a:lstStyle/>
          <a:p>
            <a:pPr indent="0" marL="0">
              <a:lnSpc>
                <a:spcPts val="1600"/>
              </a:lnSpc>
              <a:buNone/>
            </a:pPr>
            <a:r>
              <a:rPr lang="en-US" sz="1150" dirty="0">
                <a:solidFill>
                  <a:srgbClr val="5B6472"/>
                </a:solidFill>
                <a:latin typeface="Calibri" pitchFamily="34" charset="0"/>
                <a:ea typeface="Calibri" pitchFamily="34" charset="-122"/>
                <a:cs typeface="Calibri" pitchFamily="34" charset="-120"/>
              </a:rPr>
              <a:t>Un seul chat peut router la question vers le bon agent, voire combiner plusieurs agents pour une réponse complète.</a:t>
            </a:r>
            <a:endParaRPr lang="en-US" sz="1150" dirty="0"/>
          </a:p>
        </p:txBody>
      </p:sp>
      <p:sp>
        <p:nvSpPr>
          <p:cNvPr id="14" name="Shape 12"/>
          <p:cNvSpPr/>
          <p:nvPr/>
        </p:nvSpPr>
        <p:spPr>
          <a:xfrm>
            <a:off x="548640" y="4114800"/>
            <a:ext cx="5440680" cy="2148840"/>
          </a:xfrm>
          <a:prstGeom prst="roundRect">
            <a:avLst>
              <a:gd name="adj" fmla="val 4255"/>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15" name="Shape 13"/>
          <p:cNvSpPr/>
          <p:nvPr/>
        </p:nvSpPr>
        <p:spPr>
          <a:xfrm>
            <a:off x="822960" y="4389120"/>
            <a:ext cx="502920" cy="502920"/>
          </a:xfrm>
          <a:prstGeom prst="ellipse">
            <a:avLst/>
          </a:prstGeom>
          <a:solidFill>
            <a:srgbClr val="1E2761"/>
          </a:solidFill>
          <a:ln/>
        </p:spPr>
      </p:sp>
      <p:sp>
        <p:nvSpPr>
          <p:cNvPr id="16" name="Text 14"/>
          <p:cNvSpPr/>
          <p:nvPr/>
        </p:nvSpPr>
        <p:spPr>
          <a:xfrm>
            <a:off x="822960" y="438912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508760" y="4370832"/>
            <a:ext cx="4251960" cy="45720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Quick Agents no-code</a:t>
            </a:r>
            <a:endParaRPr lang="en-US" sz="1500" dirty="0"/>
          </a:p>
        </p:txBody>
      </p:sp>
      <p:sp>
        <p:nvSpPr>
          <p:cNvPr id="18" name="Text 16"/>
          <p:cNvSpPr/>
          <p:nvPr/>
        </p:nvSpPr>
        <p:spPr>
          <a:xfrm>
            <a:off x="822960" y="5029200"/>
            <a:ext cx="4892040" cy="1097280"/>
          </a:xfrm>
          <a:prstGeom prst="rect">
            <a:avLst/>
          </a:prstGeom>
          <a:noFill/>
          <a:ln/>
        </p:spPr>
        <p:txBody>
          <a:bodyPr wrap="square" rtlCol="0" anchor="ctr"/>
          <a:lstStyle/>
          <a:p>
            <a:pPr indent="0" marL="0">
              <a:lnSpc>
                <a:spcPts val="1600"/>
              </a:lnSpc>
              <a:buNone/>
            </a:pPr>
            <a:r>
              <a:rPr lang="en-US" sz="1150" dirty="0">
                <a:solidFill>
                  <a:srgbClr val="5B6472"/>
                </a:solidFill>
                <a:latin typeface="Calibri" pitchFamily="34" charset="0"/>
                <a:ea typeface="Calibri" pitchFamily="34" charset="-122"/>
                <a:cs typeface="Calibri" pitchFamily="34" charset="-120"/>
              </a:rPr>
              <a:t>Les collaborateurs métier créent leurs propres agents en langage naturel, à partir de 20+ modèles prêts à l'emploi.</a:t>
            </a:r>
            <a:endParaRPr lang="en-US" sz="1150" dirty="0"/>
          </a:p>
        </p:txBody>
      </p:sp>
      <p:sp>
        <p:nvSpPr>
          <p:cNvPr id="19" name="Shape 17"/>
          <p:cNvSpPr/>
          <p:nvPr/>
        </p:nvSpPr>
        <p:spPr>
          <a:xfrm>
            <a:off x="6355080" y="4114800"/>
            <a:ext cx="5440680" cy="2148840"/>
          </a:xfrm>
          <a:prstGeom prst="roundRect">
            <a:avLst>
              <a:gd name="adj" fmla="val 4255"/>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20" name="Shape 18"/>
          <p:cNvSpPr/>
          <p:nvPr/>
        </p:nvSpPr>
        <p:spPr>
          <a:xfrm>
            <a:off x="6629400" y="4389120"/>
            <a:ext cx="502920" cy="502920"/>
          </a:xfrm>
          <a:prstGeom prst="ellipse">
            <a:avLst/>
          </a:prstGeom>
          <a:solidFill>
            <a:srgbClr val="E8A33D"/>
          </a:solidFill>
          <a:ln/>
        </p:spPr>
      </p:sp>
      <p:sp>
        <p:nvSpPr>
          <p:cNvPr id="21" name="Text 19"/>
          <p:cNvSpPr/>
          <p:nvPr/>
        </p:nvSpPr>
        <p:spPr>
          <a:xfrm>
            <a:off x="6629400" y="438912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315200" y="4370832"/>
            <a:ext cx="4251960" cy="45720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Gouvernance IT</a:t>
            </a:r>
            <a:endParaRPr lang="en-US" sz="1500" dirty="0"/>
          </a:p>
        </p:txBody>
      </p:sp>
      <p:sp>
        <p:nvSpPr>
          <p:cNvPr id="23" name="Text 21"/>
          <p:cNvSpPr/>
          <p:nvPr/>
        </p:nvSpPr>
        <p:spPr>
          <a:xfrm>
            <a:off x="6629400" y="5029200"/>
            <a:ext cx="4892040" cy="1097280"/>
          </a:xfrm>
          <a:prstGeom prst="rect">
            <a:avLst/>
          </a:prstGeom>
          <a:noFill/>
          <a:ln/>
        </p:spPr>
        <p:txBody>
          <a:bodyPr wrap="square" rtlCol="0" anchor="ctr"/>
          <a:lstStyle/>
          <a:p>
            <a:pPr indent="0" marL="0">
              <a:lnSpc>
                <a:spcPts val="1600"/>
              </a:lnSpc>
              <a:buNone/>
            </a:pPr>
            <a:r>
              <a:rPr lang="en-US" sz="1150" dirty="0">
                <a:solidFill>
                  <a:srgbClr val="5B6472"/>
                </a:solidFill>
                <a:latin typeface="Calibri" pitchFamily="34" charset="0"/>
                <a:ea typeface="Calibri" pitchFamily="34" charset="-122"/>
                <a:cs typeface="Calibri" pitchFamily="34" charset="-120"/>
              </a:rPr>
              <a:t>L'IT définit quels agents, modèles (LLM) et Tools sont disponibles, avec suivi d'adoption et d'usage.</a:t>
            </a:r>
            <a:endParaRPr lang="en-US" sz="1150" dirty="0"/>
          </a:p>
        </p:txBody>
      </p:sp>
      <p:sp>
        <p:nvSpPr>
          <p:cNvPr id="24" name="Text 22"/>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25" name="Text 2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GOUVERNANCE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Une IA cadrée par la DSI : le LLM Mesh</a:t>
            </a:r>
            <a:endParaRPr lang="en-US" sz="3000" dirty="0"/>
          </a:p>
        </p:txBody>
      </p:sp>
      <p:sp>
        <p:nvSpPr>
          <p:cNvPr id="4" name="Text 2"/>
          <p:cNvSpPr/>
          <p:nvPr/>
        </p:nvSpPr>
        <p:spPr>
          <a:xfrm>
            <a:off x="548640" y="1554480"/>
            <a:ext cx="11064240" cy="640080"/>
          </a:xfrm>
          <a:prstGeom prst="rect">
            <a:avLst/>
          </a:prstGeom>
          <a:noFill/>
          <a:ln/>
        </p:spPr>
        <p:txBody>
          <a:bodyPr wrap="square" rtlCol="0" anchor="ctr"/>
          <a:lstStyle/>
          <a:p>
            <a:pPr indent="0" marL="0">
              <a:lnSpc>
                <a:spcPts val="2000"/>
              </a:lnSpc>
              <a:buNone/>
            </a:pPr>
            <a:r>
              <a:rPr lang="en-US" sz="1350" dirty="0">
                <a:solidFill>
                  <a:srgbClr val="5B6472"/>
                </a:solidFill>
                <a:latin typeface="Calibri" pitchFamily="34" charset="0"/>
                <a:ea typeface="Calibri" pitchFamily="34" charset="-122"/>
                <a:cs typeface="Calibri" pitchFamily="34" charset="-120"/>
              </a:rPr>
              <a:t>Tous nos agents s'appuient sur le LLM Mesh : une passerelle sécurisée unique vers les modèles de langage (internes ou externes) et les services GenAI (bases vectorielles, etc.).</a:t>
            </a:r>
            <a:endParaRPr lang="en-US" sz="1350" dirty="0"/>
          </a:p>
        </p:txBody>
      </p:sp>
      <p:sp>
        <p:nvSpPr>
          <p:cNvPr id="5" name="Shape 3"/>
          <p:cNvSpPr/>
          <p:nvPr/>
        </p:nvSpPr>
        <p:spPr>
          <a:xfrm>
            <a:off x="548640" y="2514600"/>
            <a:ext cx="2606040" cy="2651760"/>
          </a:xfrm>
          <a:prstGeom prst="roundRect">
            <a:avLst>
              <a:gd name="adj" fmla="val 2807"/>
            </a:avLst>
          </a:prstGeom>
          <a:solidFill>
            <a:srgbClr val="F5F7FC"/>
          </a:solidFill>
          <a:ln w="12700">
            <a:solidFill>
              <a:srgbClr val="E3E7F3"/>
            </a:solidFill>
            <a:prstDash val="solid"/>
          </a:ln>
        </p:spPr>
      </p:sp>
      <p:sp>
        <p:nvSpPr>
          <p:cNvPr id="6" name="Shape 4"/>
          <p:cNvSpPr/>
          <p:nvPr/>
        </p:nvSpPr>
        <p:spPr>
          <a:xfrm>
            <a:off x="777240" y="2788920"/>
            <a:ext cx="502920" cy="502920"/>
          </a:xfrm>
          <a:prstGeom prst="roundRect">
            <a:avLst>
              <a:gd name="adj" fmla="val 50909"/>
            </a:avLst>
          </a:prstGeom>
          <a:solidFill>
            <a:srgbClr val="1E2761"/>
          </a:solidFill>
          <a:ln/>
        </p:spPr>
      </p:sp>
      <p:sp>
        <p:nvSpPr>
          <p:cNvPr id="7" name="Text 5"/>
          <p:cNvSpPr/>
          <p:nvPr/>
        </p:nvSpPr>
        <p:spPr>
          <a:xfrm>
            <a:off x="777240" y="27889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49808" y="3429000"/>
            <a:ext cx="2203704" cy="502920"/>
          </a:xfrm>
          <a:prstGeom prst="rect">
            <a:avLst/>
          </a:prstGeom>
          <a:noFill/>
          <a:ln/>
        </p:spPr>
        <p:txBody>
          <a:bodyPr wrap="square" rtlCol="0" anchor="ctr"/>
          <a:lstStyle/>
          <a:p>
            <a:pPr indent="0" marL="0">
              <a:lnSpc>
                <a:spcPts val="1500"/>
              </a:lnSpc>
              <a:buNone/>
            </a:pPr>
            <a:r>
              <a:rPr lang="en-US" sz="1300" b="1" dirty="0">
                <a:solidFill>
                  <a:srgbClr val="1E2761"/>
                </a:solidFill>
                <a:latin typeface="Cambria" pitchFamily="34" charset="0"/>
                <a:ea typeface="Cambria" pitchFamily="34" charset="-122"/>
                <a:cs typeface="Cambria" pitchFamily="34" charset="-120"/>
              </a:rPr>
              <a:t>Sécurité &amp; accès</a:t>
            </a:r>
            <a:endParaRPr lang="en-US" sz="1300" dirty="0"/>
          </a:p>
        </p:txBody>
      </p:sp>
      <p:sp>
        <p:nvSpPr>
          <p:cNvPr id="9" name="Text 7"/>
          <p:cNvSpPr/>
          <p:nvPr/>
        </p:nvSpPr>
        <p:spPr>
          <a:xfrm>
            <a:off x="749808" y="3977640"/>
            <a:ext cx="2203704" cy="1051560"/>
          </a:xfrm>
          <a:prstGeom prst="rect">
            <a:avLst/>
          </a:prstGeom>
          <a:noFill/>
          <a:ln/>
        </p:spPr>
        <p:txBody>
          <a:bodyPr wrap="square" rtlCol="0" anchor="ctr"/>
          <a:lstStyle/>
          <a:p>
            <a:pPr indent="0" marL="0">
              <a:lnSpc>
                <a:spcPts val="1400"/>
              </a:lnSpc>
              <a:buNone/>
            </a:pPr>
            <a:r>
              <a:rPr lang="en-US" sz="1050" dirty="0">
                <a:solidFill>
                  <a:srgbClr val="5B6472"/>
                </a:solidFill>
                <a:latin typeface="Calibri" pitchFamily="34" charset="0"/>
                <a:ea typeface="Calibri" pitchFamily="34" charset="-122"/>
                <a:cs typeface="Calibri" pitchFamily="34" charset="-120"/>
              </a:rPr>
              <a:t>Droits d'accès par rôle, par agent et par donnée.</a:t>
            </a:r>
            <a:endParaRPr lang="en-US" sz="1050" dirty="0"/>
          </a:p>
        </p:txBody>
      </p:sp>
      <p:sp>
        <p:nvSpPr>
          <p:cNvPr id="10" name="Shape 8"/>
          <p:cNvSpPr/>
          <p:nvPr/>
        </p:nvSpPr>
        <p:spPr>
          <a:xfrm>
            <a:off x="3410712" y="2514600"/>
            <a:ext cx="2606040" cy="2651760"/>
          </a:xfrm>
          <a:prstGeom prst="roundRect">
            <a:avLst>
              <a:gd name="adj" fmla="val 2807"/>
            </a:avLst>
          </a:prstGeom>
          <a:solidFill>
            <a:srgbClr val="F5F7FC"/>
          </a:solidFill>
          <a:ln w="12700">
            <a:solidFill>
              <a:srgbClr val="E3E7F3"/>
            </a:solidFill>
            <a:prstDash val="solid"/>
          </a:ln>
        </p:spPr>
      </p:sp>
      <p:sp>
        <p:nvSpPr>
          <p:cNvPr id="11" name="Shape 9"/>
          <p:cNvSpPr/>
          <p:nvPr/>
        </p:nvSpPr>
        <p:spPr>
          <a:xfrm>
            <a:off x="3639312" y="2788920"/>
            <a:ext cx="502920" cy="502920"/>
          </a:xfrm>
          <a:prstGeom prst="roundRect">
            <a:avLst>
              <a:gd name="adj" fmla="val 50909"/>
            </a:avLst>
          </a:prstGeom>
          <a:solidFill>
            <a:srgbClr val="1E2761"/>
          </a:solidFill>
          <a:ln/>
        </p:spPr>
      </p:sp>
      <p:sp>
        <p:nvSpPr>
          <p:cNvPr id="12" name="Text 10"/>
          <p:cNvSpPr/>
          <p:nvPr/>
        </p:nvSpPr>
        <p:spPr>
          <a:xfrm>
            <a:off x="3639312" y="27889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611880" y="3429000"/>
            <a:ext cx="2203704" cy="502920"/>
          </a:xfrm>
          <a:prstGeom prst="rect">
            <a:avLst/>
          </a:prstGeom>
          <a:noFill/>
          <a:ln/>
        </p:spPr>
        <p:txBody>
          <a:bodyPr wrap="square" rtlCol="0" anchor="ctr"/>
          <a:lstStyle/>
          <a:p>
            <a:pPr indent="0" marL="0">
              <a:lnSpc>
                <a:spcPts val="1500"/>
              </a:lnSpc>
              <a:buNone/>
            </a:pPr>
            <a:r>
              <a:rPr lang="en-US" sz="1300" b="1" dirty="0">
                <a:solidFill>
                  <a:srgbClr val="1E2761"/>
                </a:solidFill>
                <a:latin typeface="Cambria" pitchFamily="34" charset="0"/>
                <a:ea typeface="Cambria" pitchFamily="34" charset="-122"/>
                <a:cs typeface="Cambria" pitchFamily="34" charset="-120"/>
              </a:rPr>
              <a:t>Coûts maîtrisés</a:t>
            </a:r>
            <a:endParaRPr lang="en-US" sz="1300" dirty="0"/>
          </a:p>
        </p:txBody>
      </p:sp>
      <p:sp>
        <p:nvSpPr>
          <p:cNvPr id="14" name="Text 12"/>
          <p:cNvSpPr/>
          <p:nvPr/>
        </p:nvSpPr>
        <p:spPr>
          <a:xfrm>
            <a:off x="3611880" y="3977640"/>
            <a:ext cx="2203704" cy="1051560"/>
          </a:xfrm>
          <a:prstGeom prst="rect">
            <a:avLst/>
          </a:prstGeom>
          <a:noFill/>
          <a:ln/>
        </p:spPr>
        <p:txBody>
          <a:bodyPr wrap="square" rtlCol="0" anchor="ctr"/>
          <a:lstStyle/>
          <a:p>
            <a:pPr indent="0" marL="0">
              <a:lnSpc>
                <a:spcPts val="1400"/>
              </a:lnSpc>
              <a:buNone/>
            </a:pPr>
            <a:r>
              <a:rPr lang="en-US" sz="1050" dirty="0">
                <a:solidFill>
                  <a:srgbClr val="5B6472"/>
                </a:solidFill>
                <a:latin typeface="Calibri" pitchFamily="34" charset="0"/>
                <a:ea typeface="Calibri" pitchFamily="34" charset="-122"/>
                <a:cs typeface="Calibri" pitchFamily="34" charset="-120"/>
              </a:rPr>
              <a:t>Quotas, budgets et routage optimisé entre modèles.</a:t>
            </a:r>
            <a:endParaRPr lang="en-US" sz="1050" dirty="0"/>
          </a:p>
        </p:txBody>
      </p:sp>
      <p:sp>
        <p:nvSpPr>
          <p:cNvPr id="15" name="Shape 13"/>
          <p:cNvSpPr/>
          <p:nvPr/>
        </p:nvSpPr>
        <p:spPr>
          <a:xfrm>
            <a:off x="6272784" y="2514600"/>
            <a:ext cx="2606040" cy="2651760"/>
          </a:xfrm>
          <a:prstGeom prst="roundRect">
            <a:avLst>
              <a:gd name="adj" fmla="val 2807"/>
            </a:avLst>
          </a:prstGeom>
          <a:solidFill>
            <a:srgbClr val="F5F7FC"/>
          </a:solidFill>
          <a:ln w="12700">
            <a:solidFill>
              <a:srgbClr val="E3E7F3"/>
            </a:solidFill>
            <a:prstDash val="solid"/>
          </a:ln>
        </p:spPr>
      </p:sp>
      <p:sp>
        <p:nvSpPr>
          <p:cNvPr id="16" name="Shape 14"/>
          <p:cNvSpPr/>
          <p:nvPr/>
        </p:nvSpPr>
        <p:spPr>
          <a:xfrm>
            <a:off x="6501384" y="2788920"/>
            <a:ext cx="502920" cy="502920"/>
          </a:xfrm>
          <a:prstGeom prst="roundRect">
            <a:avLst>
              <a:gd name="adj" fmla="val 50909"/>
            </a:avLst>
          </a:prstGeom>
          <a:solidFill>
            <a:srgbClr val="1E2761"/>
          </a:solidFill>
          <a:ln/>
        </p:spPr>
      </p:sp>
      <p:sp>
        <p:nvSpPr>
          <p:cNvPr id="17" name="Text 15"/>
          <p:cNvSpPr/>
          <p:nvPr/>
        </p:nvSpPr>
        <p:spPr>
          <a:xfrm>
            <a:off x="6501384" y="27889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6473952" y="3429000"/>
            <a:ext cx="2203704" cy="502920"/>
          </a:xfrm>
          <a:prstGeom prst="rect">
            <a:avLst/>
          </a:prstGeom>
          <a:noFill/>
          <a:ln/>
        </p:spPr>
        <p:txBody>
          <a:bodyPr wrap="square" rtlCol="0" anchor="ctr"/>
          <a:lstStyle/>
          <a:p>
            <a:pPr indent="0" marL="0">
              <a:lnSpc>
                <a:spcPts val="1500"/>
              </a:lnSpc>
              <a:buNone/>
            </a:pPr>
            <a:r>
              <a:rPr lang="en-US" sz="1300" b="1" dirty="0">
                <a:solidFill>
                  <a:srgbClr val="1E2761"/>
                </a:solidFill>
                <a:latin typeface="Cambria" pitchFamily="34" charset="0"/>
                <a:ea typeface="Cambria" pitchFamily="34" charset="-122"/>
                <a:cs typeface="Cambria" pitchFamily="34" charset="-120"/>
              </a:rPr>
              <a:t>Traçabilité</a:t>
            </a:r>
            <a:endParaRPr lang="en-US" sz="1300" dirty="0"/>
          </a:p>
        </p:txBody>
      </p:sp>
      <p:sp>
        <p:nvSpPr>
          <p:cNvPr id="19" name="Text 17"/>
          <p:cNvSpPr/>
          <p:nvPr/>
        </p:nvSpPr>
        <p:spPr>
          <a:xfrm>
            <a:off x="6473952" y="3977640"/>
            <a:ext cx="2203704" cy="1051560"/>
          </a:xfrm>
          <a:prstGeom prst="rect">
            <a:avLst/>
          </a:prstGeom>
          <a:noFill/>
          <a:ln/>
        </p:spPr>
        <p:txBody>
          <a:bodyPr wrap="square" rtlCol="0" anchor="ctr"/>
          <a:lstStyle/>
          <a:p>
            <a:pPr indent="0" marL="0">
              <a:lnSpc>
                <a:spcPts val="1400"/>
              </a:lnSpc>
              <a:buNone/>
            </a:pPr>
            <a:r>
              <a:rPr lang="en-US" sz="1050" dirty="0">
                <a:solidFill>
                  <a:srgbClr val="5B6472"/>
                </a:solidFill>
                <a:latin typeface="Calibri" pitchFamily="34" charset="0"/>
                <a:ea typeface="Calibri" pitchFamily="34" charset="-122"/>
                <a:cs typeface="Calibri" pitchFamily="34" charset="-120"/>
              </a:rPr>
              <a:t>Journaux d'audit et suivi des usages de bout en bout.</a:t>
            </a:r>
            <a:endParaRPr lang="en-US" sz="1050" dirty="0"/>
          </a:p>
        </p:txBody>
      </p:sp>
      <p:sp>
        <p:nvSpPr>
          <p:cNvPr id="20" name="Shape 18"/>
          <p:cNvSpPr/>
          <p:nvPr/>
        </p:nvSpPr>
        <p:spPr>
          <a:xfrm>
            <a:off x="9134856" y="2514600"/>
            <a:ext cx="2606040" cy="2651760"/>
          </a:xfrm>
          <a:prstGeom prst="roundRect">
            <a:avLst>
              <a:gd name="adj" fmla="val 2807"/>
            </a:avLst>
          </a:prstGeom>
          <a:solidFill>
            <a:srgbClr val="F5F7FC"/>
          </a:solidFill>
          <a:ln w="12700">
            <a:solidFill>
              <a:srgbClr val="E3E7F3"/>
            </a:solidFill>
            <a:prstDash val="solid"/>
          </a:ln>
        </p:spPr>
      </p:sp>
      <p:sp>
        <p:nvSpPr>
          <p:cNvPr id="21" name="Shape 19"/>
          <p:cNvSpPr/>
          <p:nvPr/>
        </p:nvSpPr>
        <p:spPr>
          <a:xfrm>
            <a:off x="9363456" y="2788920"/>
            <a:ext cx="502920" cy="502920"/>
          </a:xfrm>
          <a:prstGeom prst="roundRect">
            <a:avLst>
              <a:gd name="adj" fmla="val 50909"/>
            </a:avLst>
          </a:prstGeom>
          <a:solidFill>
            <a:srgbClr val="1E2761"/>
          </a:solidFill>
          <a:ln/>
        </p:spPr>
      </p:sp>
      <p:sp>
        <p:nvSpPr>
          <p:cNvPr id="22" name="Text 20"/>
          <p:cNvSpPr/>
          <p:nvPr/>
        </p:nvSpPr>
        <p:spPr>
          <a:xfrm>
            <a:off x="9363456" y="27889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9336024" y="3429000"/>
            <a:ext cx="2203704" cy="502920"/>
          </a:xfrm>
          <a:prstGeom prst="rect">
            <a:avLst/>
          </a:prstGeom>
          <a:noFill/>
          <a:ln/>
        </p:spPr>
        <p:txBody>
          <a:bodyPr wrap="square" rtlCol="0" anchor="ctr"/>
          <a:lstStyle/>
          <a:p>
            <a:pPr indent="0" marL="0">
              <a:lnSpc>
                <a:spcPts val="1500"/>
              </a:lnSpc>
              <a:buNone/>
            </a:pPr>
            <a:r>
              <a:rPr lang="en-US" sz="1300" b="1" dirty="0">
                <a:solidFill>
                  <a:srgbClr val="1E2761"/>
                </a:solidFill>
                <a:latin typeface="Cambria" pitchFamily="34" charset="0"/>
                <a:ea typeface="Cambria" pitchFamily="34" charset="-122"/>
                <a:cs typeface="Cambria" pitchFamily="34" charset="-120"/>
              </a:rPr>
              <a:t>Qualité continue</a:t>
            </a:r>
            <a:endParaRPr lang="en-US" sz="1300" dirty="0"/>
          </a:p>
        </p:txBody>
      </p:sp>
      <p:sp>
        <p:nvSpPr>
          <p:cNvPr id="24" name="Text 22"/>
          <p:cNvSpPr/>
          <p:nvPr/>
        </p:nvSpPr>
        <p:spPr>
          <a:xfrm>
            <a:off x="9336024" y="3977640"/>
            <a:ext cx="2203704" cy="1051560"/>
          </a:xfrm>
          <a:prstGeom prst="rect">
            <a:avLst/>
          </a:prstGeom>
          <a:noFill/>
          <a:ln/>
        </p:spPr>
        <p:txBody>
          <a:bodyPr wrap="square" rtlCol="0" anchor="ctr"/>
          <a:lstStyle/>
          <a:p>
            <a:pPr indent="0" marL="0">
              <a:lnSpc>
                <a:spcPts val="1400"/>
              </a:lnSpc>
              <a:buNone/>
            </a:pPr>
            <a:r>
              <a:rPr lang="en-US" sz="1050" dirty="0">
                <a:solidFill>
                  <a:srgbClr val="5B6472"/>
                </a:solidFill>
                <a:latin typeface="Calibri" pitchFamily="34" charset="0"/>
                <a:ea typeface="Calibri" pitchFamily="34" charset="-122"/>
                <a:cs typeface="Calibri" pitchFamily="34" charset="-120"/>
              </a:rPr>
              <a:t>Évaluation, monitoring de dérive, alertes de performance.</a:t>
            </a:r>
            <a:endParaRPr lang="en-US" sz="1050" dirty="0"/>
          </a:p>
        </p:txBody>
      </p:sp>
      <p:sp>
        <p:nvSpPr>
          <p:cNvPr id="25" name="Text 2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DÉJÀ RÉALISÉ</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Notre premier agent : Incident → Changements</a:t>
            </a:r>
            <a:endParaRPr lang="en-US" sz="3000" dirty="0"/>
          </a:p>
        </p:txBody>
      </p:sp>
      <p:sp>
        <p:nvSpPr>
          <p:cNvPr id="4" name="Shape 2"/>
          <p:cNvSpPr/>
          <p:nvPr/>
        </p:nvSpPr>
        <p:spPr>
          <a:xfrm>
            <a:off x="9098280" y="457200"/>
            <a:ext cx="2514600" cy="310896"/>
          </a:xfrm>
          <a:prstGeom prst="roundRect">
            <a:avLst>
              <a:gd name="adj" fmla="val 50000"/>
            </a:avLst>
          </a:prstGeom>
          <a:solidFill>
            <a:srgbClr val="E8A33D"/>
          </a:solidFill>
          <a:ln/>
        </p:spPr>
      </p:sp>
      <p:sp>
        <p:nvSpPr>
          <p:cNvPr id="5" name="Text 3"/>
          <p:cNvSpPr/>
          <p:nvPr/>
        </p:nvSpPr>
        <p:spPr>
          <a:xfrm>
            <a:off x="9098280" y="457200"/>
            <a:ext cx="2514600" cy="310896"/>
          </a:xfrm>
          <a:prstGeom prst="rect">
            <a:avLst/>
          </a:prstGeom>
          <a:noFill/>
          <a:ln/>
        </p:spPr>
        <p:txBody>
          <a:bodyPr wrap="square" lIns="0" tIns="0" rIns="0" bIns="0" rtlCol="0" anchor="ctr"/>
          <a:lstStyle/>
          <a:p>
            <a:pPr algn="ctr" indent="0" marL="0">
              <a:buNone/>
            </a:pPr>
            <a:r>
              <a:rPr lang="en-US" sz="1050" b="1" dirty="0">
                <a:solidFill>
                  <a:srgbClr val="141B4D"/>
                </a:solidFill>
                <a:latin typeface="Calibri" pitchFamily="34" charset="0"/>
                <a:ea typeface="Calibri" pitchFamily="34" charset="-122"/>
                <a:cs typeface="Calibri" pitchFamily="34" charset="-120"/>
              </a:rPr>
              <a:t>EN PRODUCTION</a:t>
            </a:r>
            <a:endParaRPr lang="en-US" sz="1050" dirty="0"/>
          </a:p>
        </p:txBody>
      </p:sp>
      <p:sp>
        <p:nvSpPr>
          <p:cNvPr id="6" name="Text 4"/>
          <p:cNvSpPr/>
          <p:nvPr/>
        </p:nvSpPr>
        <p:spPr>
          <a:xfrm>
            <a:off x="548640" y="1508760"/>
            <a:ext cx="11064240" cy="685800"/>
          </a:xfrm>
          <a:prstGeom prst="rect">
            <a:avLst/>
          </a:prstGeom>
          <a:noFill/>
          <a:ln/>
        </p:spPr>
        <p:txBody>
          <a:bodyPr wrap="square" rtlCol="0" anchor="ctr"/>
          <a:lstStyle/>
          <a:p>
            <a:pPr indent="0" marL="0">
              <a:lnSpc>
                <a:spcPts val="2000"/>
              </a:lnSpc>
              <a:buNone/>
            </a:pPr>
            <a:r>
              <a:rPr lang="en-US" sz="1350" dirty="0">
                <a:solidFill>
                  <a:srgbClr val="5B6472"/>
                </a:solidFill>
                <a:latin typeface="Calibri" pitchFamily="34" charset="0"/>
                <a:ea typeface="Calibri" pitchFamily="34" charset="-122"/>
                <a:cs typeface="Calibri" pitchFamily="34" charset="-120"/>
              </a:rPr>
              <a:t>À partir de la seule référence d'un incident, l'agent retrouve automatiquement les changements récents qui ont pu en être la cause — un gain de temps immédiat pour les astreintes et les cellules de crise.</a:t>
            </a:r>
            <a:endParaRPr lang="en-US" sz="1350" dirty="0"/>
          </a:p>
        </p:txBody>
      </p:sp>
      <p:sp>
        <p:nvSpPr>
          <p:cNvPr id="7" name="Shape 5"/>
          <p:cNvSpPr/>
          <p:nvPr/>
        </p:nvSpPr>
        <p:spPr>
          <a:xfrm>
            <a:off x="548640" y="2743200"/>
            <a:ext cx="2286000" cy="1371600"/>
          </a:xfrm>
          <a:prstGeom prst="roundRect">
            <a:avLst>
              <a:gd name="adj" fmla="val 6667"/>
            </a:avLst>
          </a:prstGeom>
          <a:solidFill>
            <a:srgbClr val="1E2761"/>
          </a:solidFill>
          <a:ln w="12700">
            <a:solidFill>
              <a:srgbClr val="1E2761"/>
            </a:solidFill>
            <a:prstDash val="solid"/>
          </a:ln>
        </p:spPr>
      </p:sp>
      <p:sp>
        <p:nvSpPr>
          <p:cNvPr id="8" name="Text 6"/>
          <p:cNvSpPr/>
          <p:nvPr/>
        </p:nvSpPr>
        <p:spPr>
          <a:xfrm>
            <a:off x="685800" y="2880360"/>
            <a:ext cx="2011680" cy="4114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Référence incident</a:t>
            </a:r>
            <a:endParaRPr lang="en-US" sz="1250" dirty="0"/>
          </a:p>
        </p:txBody>
      </p:sp>
      <p:sp>
        <p:nvSpPr>
          <p:cNvPr id="9" name="Text 7"/>
          <p:cNvSpPr/>
          <p:nvPr/>
        </p:nvSpPr>
        <p:spPr>
          <a:xfrm>
            <a:off x="685800" y="3291840"/>
            <a:ext cx="2011680" cy="731520"/>
          </a:xfrm>
          <a:prstGeom prst="rect">
            <a:avLst/>
          </a:prstGeom>
          <a:noFill/>
          <a:ln/>
        </p:spPr>
        <p:txBody>
          <a:bodyPr wrap="square"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Ex : INC0045210 saisi par l'analyste</a:t>
            </a:r>
            <a:endParaRPr lang="en-US" sz="950" dirty="0"/>
          </a:p>
        </p:txBody>
      </p:sp>
      <p:sp>
        <p:nvSpPr>
          <p:cNvPr id="10" name="Shape 8"/>
          <p:cNvSpPr/>
          <p:nvPr/>
        </p:nvSpPr>
        <p:spPr>
          <a:xfrm>
            <a:off x="2889504" y="3346704"/>
            <a:ext cx="301752" cy="164592"/>
          </a:xfrm>
          <a:prstGeom prst="rightArrow">
            <a:avLst/>
          </a:prstGeom>
          <a:solidFill>
            <a:srgbClr val="AEB8DE"/>
          </a:solidFill>
          <a:ln/>
        </p:spPr>
      </p:sp>
      <p:sp>
        <p:nvSpPr>
          <p:cNvPr id="11" name="Shape 9"/>
          <p:cNvSpPr/>
          <p:nvPr/>
        </p:nvSpPr>
        <p:spPr>
          <a:xfrm>
            <a:off x="3246120" y="2743200"/>
            <a:ext cx="2743200" cy="1371600"/>
          </a:xfrm>
          <a:prstGeom prst="roundRect">
            <a:avLst>
              <a:gd name="adj" fmla="val 6667"/>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12" name="Text 10"/>
          <p:cNvSpPr/>
          <p:nvPr/>
        </p:nvSpPr>
        <p:spPr>
          <a:xfrm>
            <a:off x="3383280" y="2880360"/>
            <a:ext cx="2468880" cy="41148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Agent (LLM)</a:t>
            </a:r>
            <a:endParaRPr lang="en-US" sz="1250" dirty="0"/>
          </a:p>
        </p:txBody>
      </p:sp>
      <p:sp>
        <p:nvSpPr>
          <p:cNvPr id="13" name="Text 11"/>
          <p:cNvSpPr/>
          <p:nvPr/>
        </p:nvSpPr>
        <p:spPr>
          <a:xfrm>
            <a:off x="3383280" y="3291840"/>
            <a:ext cx="2468880" cy="731520"/>
          </a:xfrm>
          <a:prstGeom prst="rect">
            <a:avLst/>
          </a:prstGeom>
          <a:noFill/>
          <a:ln/>
        </p:spPr>
        <p:txBody>
          <a:bodyPr wrap="square" rtlCol="0" anchor="ctr"/>
          <a:lstStyle/>
          <a:p>
            <a:pPr algn="ctr" indent="0" marL="0">
              <a:lnSpc>
                <a:spcPts val="1200"/>
              </a:lnSpc>
              <a:buNone/>
            </a:pPr>
            <a:r>
              <a:rPr lang="en-US" sz="950" dirty="0">
                <a:solidFill>
                  <a:srgbClr val="5B6472"/>
                </a:solidFill>
                <a:latin typeface="Calibri" pitchFamily="34" charset="0"/>
                <a:ea typeface="Calibri" pitchFamily="34" charset="-122"/>
                <a:cs typeface="Calibri" pitchFamily="34" charset="-120"/>
              </a:rPr>
              <a:t>Comprend la demande, appelle le Tool dédié</a:t>
            </a:r>
            <a:endParaRPr lang="en-US" sz="950" dirty="0"/>
          </a:p>
        </p:txBody>
      </p:sp>
      <p:sp>
        <p:nvSpPr>
          <p:cNvPr id="14" name="Shape 12"/>
          <p:cNvSpPr/>
          <p:nvPr/>
        </p:nvSpPr>
        <p:spPr>
          <a:xfrm>
            <a:off x="6044184" y="3346704"/>
            <a:ext cx="301752" cy="164592"/>
          </a:xfrm>
          <a:prstGeom prst="rightArrow">
            <a:avLst/>
          </a:prstGeom>
          <a:solidFill>
            <a:srgbClr val="AEB8DE"/>
          </a:solidFill>
          <a:ln/>
        </p:spPr>
      </p:sp>
      <p:sp>
        <p:nvSpPr>
          <p:cNvPr id="15" name="Shape 13"/>
          <p:cNvSpPr/>
          <p:nvPr/>
        </p:nvSpPr>
        <p:spPr>
          <a:xfrm>
            <a:off x="6400800" y="2743200"/>
            <a:ext cx="2834640" cy="1371600"/>
          </a:xfrm>
          <a:prstGeom prst="roundRect">
            <a:avLst>
              <a:gd name="adj" fmla="val 6667"/>
            </a:avLst>
          </a:prstGeom>
          <a:solidFill>
            <a:srgbClr val="FFFFFF"/>
          </a:solidFill>
          <a:ln w="12700">
            <a:solidFill>
              <a:srgbClr val="E3E7F3"/>
            </a:solidFill>
            <a:prstDash val="solid"/>
          </a:ln>
          <a:effectLst>
            <a:outerShdw sx="100000" sy="100000" kx="0" ky="0" algn="bl" rotWithShape="0" blurRad="101600" dist="38100" dir="5400000">
              <a:srgbClr val="1E2761">
                <a:alpha val="12000"/>
              </a:srgbClr>
            </a:outerShdw>
          </a:effectLst>
        </p:spPr>
      </p:sp>
      <p:sp>
        <p:nvSpPr>
          <p:cNvPr id="16" name="Text 14"/>
          <p:cNvSpPr/>
          <p:nvPr/>
        </p:nvSpPr>
        <p:spPr>
          <a:xfrm>
            <a:off x="6537960" y="2880360"/>
            <a:ext cx="2560320" cy="41148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Tool personnalisé</a:t>
            </a:r>
            <a:endParaRPr lang="en-US" sz="1250" dirty="0"/>
          </a:p>
        </p:txBody>
      </p:sp>
      <p:sp>
        <p:nvSpPr>
          <p:cNvPr id="17" name="Text 15"/>
          <p:cNvSpPr/>
          <p:nvPr/>
        </p:nvSpPr>
        <p:spPr>
          <a:xfrm>
            <a:off x="6537960" y="3291840"/>
            <a:ext cx="2560320" cy="731520"/>
          </a:xfrm>
          <a:prstGeom prst="rect">
            <a:avLst/>
          </a:prstGeom>
          <a:noFill/>
          <a:ln/>
        </p:spPr>
        <p:txBody>
          <a:bodyPr wrap="square" rtlCol="0" anchor="ctr"/>
          <a:lstStyle/>
          <a:p>
            <a:pPr algn="ctr" indent="0" marL="0">
              <a:lnSpc>
                <a:spcPts val="1200"/>
              </a:lnSpc>
              <a:buNone/>
            </a:pPr>
            <a:r>
              <a:rPr lang="en-US" sz="950" dirty="0">
                <a:solidFill>
                  <a:srgbClr val="5B6472"/>
                </a:solidFill>
                <a:latin typeface="Calibri" pitchFamily="34" charset="0"/>
                <a:ea typeface="Calibri" pitchFamily="34" charset="-122"/>
                <a:cs typeface="Calibri" pitchFamily="34" charset="-120"/>
              </a:rPr>
              <a:t>Recherche les changements corrélés (période, périmètre, CI)</a:t>
            </a:r>
            <a:endParaRPr lang="en-US" sz="950" dirty="0"/>
          </a:p>
        </p:txBody>
      </p:sp>
      <p:sp>
        <p:nvSpPr>
          <p:cNvPr id="18" name="Shape 16"/>
          <p:cNvSpPr/>
          <p:nvPr/>
        </p:nvSpPr>
        <p:spPr>
          <a:xfrm>
            <a:off x="9290304" y="3346704"/>
            <a:ext cx="301752" cy="164592"/>
          </a:xfrm>
          <a:prstGeom prst="rightArrow">
            <a:avLst/>
          </a:prstGeom>
          <a:solidFill>
            <a:srgbClr val="AEB8DE"/>
          </a:solidFill>
          <a:ln/>
        </p:spPr>
      </p:sp>
      <p:sp>
        <p:nvSpPr>
          <p:cNvPr id="19" name="Shape 17"/>
          <p:cNvSpPr/>
          <p:nvPr/>
        </p:nvSpPr>
        <p:spPr>
          <a:xfrm>
            <a:off x="9646920" y="2743200"/>
            <a:ext cx="2011680" cy="1371600"/>
          </a:xfrm>
          <a:prstGeom prst="roundRect">
            <a:avLst>
              <a:gd name="adj" fmla="val 6667"/>
            </a:avLst>
          </a:prstGeom>
          <a:solidFill>
            <a:srgbClr val="E8A33D"/>
          </a:solidFill>
          <a:ln w="12700">
            <a:solidFill>
              <a:srgbClr val="E8A33D"/>
            </a:solidFill>
            <a:prstDash val="solid"/>
          </a:ln>
        </p:spPr>
      </p:sp>
      <p:sp>
        <p:nvSpPr>
          <p:cNvPr id="20" name="Text 18"/>
          <p:cNvSpPr/>
          <p:nvPr/>
        </p:nvSpPr>
        <p:spPr>
          <a:xfrm>
            <a:off x="9784080" y="2880360"/>
            <a:ext cx="1737360" cy="411480"/>
          </a:xfrm>
          <a:prstGeom prst="rect">
            <a:avLst/>
          </a:prstGeom>
          <a:noFill/>
          <a:ln/>
        </p:spPr>
        <p:txBody>
          <a:bodyPr wrap="square" rtlCol="0" anchor="ctr"/>
          <a:lstStyle/>
          <a:p>
            <a:pPr algn="ctr" indent="0" marL="0">
              <a:buNone/>
            </a:pPr>
            <a:r>
              <a:rPr lang="en-US" sz="1250" b="1" dirty="0">
                <a:solidFill>
                  <a:srgbClr val="141B4D"/>
                </a:solidFill>
                <a:latin typeface="Calibri" pitchFamily="34" charset="0"/>
                <a:ea typeface="Calibri" pitchFamily="34" charset="-122"/>
                <a:cs typeface="Calibri" pitchFamily="34" charset="-120"/>
              </a:rPr>
              <a:t>Réponse</a:t>
            </a:r>
            <a:endParaRPr lang="en-US" sz="1250" dirty="0"/>
          </a:p>
        </p:txBody>
      </p:sp>
      <p:sp>
        <p:nvSpPr>
          <p:cNvPr id="21" name="Text 19"/>
          <p:cNvSpPr/>
          <p:nvPr/>
        </p:nvSpPr>
        <p:spPr>
          <a:xfrm>
            <a:off x="9784080" y="3291840"/>
            <a:ext cx="1737360" cy="731520"/>
          </a:xfrm>
          <a:prstGeom prst="rect">
            <a:avLst/>
          </a:prstGeom>
          <a:noFill/>
          <a:ln/>
        </p:spPr>
        <p:txBody>
          <a:bodyPr wrap="square" rtlCol="0" anchor="ctr"/>
          <a:lstStyle/>
          <a:p>
            <a:pPr algn="ctr" indent="0" marL="0">
              <a:lnSpc>
                <a:spcPts val="1200"/>
              </a:lnSpc>
              <a:buNone/>
            </a:pPr>
            <a:r>
              <a:rPr lang="en-US" sz="950" dirty="0">
                <a:solidFill>
                  <a:srgbClr val="141B4D"/>
                </a:solidFill>
                <a:latin typeface="Calibri" pitchFamily="34" charset="0"/>
                <a:ea typeface="Calibri" pitchFamily="34" charset="-122"/>
                <a:cs typeface="Calibri" pitchFamily="34" charset="-120"/>
              </a:rPr>
              <a:t>Liste des changements suspects, classée</a:t>
            </a:r>
            <a:endParaRPr lang="en-US" sz="950" dirty="0"/>
          </a:p>
        </p:txBody>
      </p:sp>
      <p:sp>
        <p:nvSpPr>
          <p:cNvPr id="22" name="Text 20"/>
          <p:cNvSpPr/>
          <p:nvPr/>
        </p:nvSpPr>
        <p:spPr>
          <a:xfrm>
            <a:off x="548640" y="4526280"/>
            <a:ext cx="11064240" cy="457200"/>
          </a:xfrm>
          <a:prstGeom prst="rect">
            <a:avLst/>
          </a:prstGeom>
          <a:noFill/>
          <a:ln/>
        </p:spPr>
        <p:txBody>
          <a:bodyPr wrap="square"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Prochaine étape : enrichir cet agent avec une explication du niveau de confiance et un lien direct vers la fiche de changement.</a:t>
            </a:r>
            <a:endParaRPr lang="en-US" sz="1200" dirty="0"/>
          </a:p>
        </p:txBody>
      </p:sp>
      <p:sp>
        <p:nvSpPr>
          <p:cNvPr id="23" name="Text 21"/>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24" name="Text 2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NOTRE FEUILLE DE ROUTE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 agent dédié pour chaque processus</a:t>
            </a:r>
            <a:endParaRPr lang="en-US" sz="3000" dirty="0"/>
          </a:p>
        </p:txBody>
      </p:sp>
      <p:sp>
        <p:nvSpPr>
          <p:cNvPr id="4" name="Shape 2"/>
          <p:cNvSpPr/>
          <p:nvPr/>
        </p:nvSpPr>
        <p:spPr>
          <a:xfrm>
            <a:off x="548640" y="1600200"/>
            <a:ext cx="11064240" cy="932688"/>
          </a:xfrm>
          <a:prstGeom prst="roundRect">
            <a:avLst>
              <a:gd name="adj" fmla="val 7843"/>
            </a:avLst>
          </a:prstGeom>
          <a:solidFill>
            <a:srgbClr val="F5F7FC"/>
          </a:solidFill>
          <a:ln w="12700">
            <a:solidFill>
              <a:srgbClr val="E3E7F3"/>
            </a:solidFill>
            <a:prstDash val="solid"/>
          </a:ln>
        </p:spPr>
      </p:sp>
      <p:sp>
        <p:nvSpPr>
          <p:cNvPr id="5" name="Shape 3"/>
          <p:cNvSpPr/>
          <p:nvPr/>
        </p:nvSpPr>
        <p:spPr>
          <a:xfrm>
            <a:off x="777240" y="1737360"/>
            <a:ext cx="640080" cy="640080"/>
          </a:xfrm>
          <a:prstGeom prst="ellipse">
            <a:avLst/>
          </a:prstGeom>
          <a:solidFill>
            <a:srgbClr val="E8A33D"/>
          </a:solidFill>
          <a:ln/>
        </p:spPr>
      </p:sp>
      <p:sp>
        <p:nvSpPr>
          <p:cNvPr id="6" name="Text 4"/>
          <p:cNvSpPr/>
          <p:nvPr/>
        </p:nvSpPr>
        <p:spPr>
          <a:xfrm>
            <a:off x="777240" y="1737360"/>
            <a:ext cx="640080" cy="640080"/>
          </a:xfrm>
          <a:prstGeom prst="rect">
            <a:avLst/>
          </a:prstGeom>
          <a:noFill/>
          <a:ln/>
        </p:spPr>
        <p:txBody>
          <a:bodyPr wrap="square" lIns="0" tIns="0" rIns="0" bIns="0" rtlCol="0" anchor="ctr"/>
          <a:lstStyle/>
          <a:p>
            <a:pPr algn="ctr" indent="0" marL="0">
              <a:buNone/>
            </a:pPr>
            <a:r>
              <a:rPr lang="en-US" sz="1500" b="1" dirty="0">
                <a:solidFill>
                  <a:srgbClr val="141B4D"/>
                </a:solidFill>
                <a:latin typeface="Calibri" pitchFamily="34" charset="0"/>
                <a:ea typeface="Calibri" pitchFamily="34" charset="-122"/>
                <a:cs typeface="Calibri" pitchFamily="34" charset="-120"/>
              </a:rPr>
              <a:t>IN</a:t>
            </a:r>
            <a:endParaRPr lang="en-US" sz="1500" dirty="0"/>
          </a:p>
        </p:txBody>
      </p:sp>
      <p:sp>
        <p:nvSpPr>
          <p:cNvPr id="7" name="Text 5"/>
          <p:cNvSpPr/>
          <p:nvPr/>
        </p:nvSpPr>
        <p:spPr>
          <a:xfrm>
            <a:off x="1600200" y="1673352"/>
            <a:ext cx="3017520" cy="36576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Agent Incidents</a:t>
            </a:r>
            <a:endParaRPr lang="en-US" sz="1450" dirty="0"/>
          </a:p>
        </p:txBody>
      </p:sp>
      <p:sp>
        <p:nvSpPr>
          <p:cNvPr id="8" name="Text 6"/>
          <p:cNvSpPr/>
          <p:nvPr/>
        </p:nvSpPr>
        <p:spPr>
          <a:xfrm>
            <a:off x="1600200" y="2020824"/>
            <a:ext cx="7315200" cy="502920"/>
          </a:xfrm>
          <a:prstGeom prst="rect">
            <a:avLst/>
          </a:prstGeom>
          <a:noFill/>
          <a:ln/>
        </p:spPr>
        <p:txBody>
          <a:bodyPr wrap="square" rtlCol="0" anchor="ctr"/>
          <a:lstStyle/>
          <a:p>
            <a:pPr indent="0" marL="0">
              <a:lnSpc>
                <a:spcPts val="1300"/>
              </a:lnSpc>
              <a:buNone/>
            </a:pPr>
            <a:r>
              <a:rPr lang="en-US" sz="1080" dirty="0">
                <a:solidFill>
                  <a:srgbClr val="5B6472"/>
                </a:solidFill>
                <a:latin typeface="Calibri" pitchFamily="34" charset="0"/>
                <a:ea typeface="Calibri" pitchFamily="34" charset="-122"/>
                <a:cs typeface="Calibri" pitchFamily="34" charset="-120"/>
              </a:rPr>
              <a:t>Corréler un incident à ses causes (changements, incidents similaires), résumer pour l'astreinte.</a:t>
            </a:r>
            <a:endParaRPr lang="en-US" sz="1080" dirty="0"/>
          </a:p>
        </p:txBody>
      </p:sp>
      <p:sp>
        <p:nvSpPr>
          <p:cNvPr id="9" name="Shape 7"/>
          <p:cNvSpPr/>
          <p:nvPr/>
        </p:nvSpPr>
        <p:spPr>
          <a:xfrm>
            <a:off x="9098280" y="1755648"/>
            <a:ext cx="2331720" cy="310896"/>
          </a:xfrm>
          <a:prstGeom prst="roundRect">
            <a:avLst>
              <a:gd name="adj" fmla="val 50000"/>
            </a:avLst>
          </a:prstGeom>
          <a:solidFill>
            <a:srgbClr val="E8A33D"/>
          </a:solidFill>
          <a:ln/>
        </p:spPr>
      </p:sp>
      <p:sp>
        <p:nvSpPr>
          <p:cNvPr id="10" name="Text 8"/>
          <p:cNvSpPr/>
          <p:nvPr/>
        </p:nvSpPr>
        <p:spPr>
          <a:xfrm>
            <a:off x="9098280" y="1755648"/>
            <a:ext cx="2331720" cy="310896"/>
          </a:xfrm>
          <a:prstGeom prst="rect">
            <a:avLst/>
          </a:prstGeom>
          <a:noFill/>
          <a:ln/>
        </p:spPr>
        <p:txBody>
          <a:bodyPr wrap="square" lIns="0" tIns="0" rIns="0" bIns="0" rtlCol="0" anchor="ctr"/>
          <a:lstStyle/>
          <a:p>
            <a:pPr algn="ctr" indent="0" marL="0">
              <a:buNone/>
            </a:pPr>
            <a:r>
              <a:rPr lang="en-US" sz="1050" b="1" dirty="0">
                <a:solidFill>
                  <a:srgbClr val="141B4D"/>
                </a:solidFill>
                <a:latin typeface="Calibri" pitchFamily="34" charset="0"/>
                <a:ea typeface="Calibri" pitchFamily="34" charset="-122"/>
                <a:cs typeface="Calibri" pitchFamily="34" charset="-120"/>
              </a:rPr>
              <a:t>EN PRODUCTION</a:t>
            </a:r>
            <a:endParaRPr lang="en-US" sz="1050" dirty="0"/>
          </a:p>
        </p:txBody>
      </p:sp>
      <p:sp>
        <p:nvSpPr>
          <p:cNvPr id="11" name="Shape 9"/>
          <p:cNvSpPr/>
          <p:nvPr/>
        </p:nvSpPr>
        <p:spPr>
          <a:xfrm>
            <a:off x="548640" y="2679192"/>
            <a:ext cx="11064240" cy="932688"/>
          </a:xfrm>
          <a:prstGeom prst="roundRect">
            <a:avLst>
              <a:gd name="adj" fmla="val 7843"/>
            </a:avLst>
          </a:prstGeom>
          <a:solidFill>
            <a:srgbClr val="F5F7FC"/>
          </a:solidFill>
          <a:ln w="12700">
            <a:solidFill>
              <a:srgbClr val="E3E7F3"/>
            </a:solidFill>
            <a:prstDash val="solid"/>
          </a:ln>
        </p:spPr>
      </p:sp>
      <p:sp>
        <p:nvSpPr>
          <p:cNvPr id="12" name="Shape 10"/>
          <p:cNvSpPr/>
          <p:nvPr/>
        </p:nvSpPr>
        <p:spPr>
          <a:xfrm>
            <a:off x="777240" y="2816352"/>
            <a:ext cx="640080" cy="640080"/>
          </a:xfrm>
          <a:prstGeom prst="ellipse">
            <a:avLst/>
          </a:prstGeom>
          <a:solidFill>
            <a:srgbClr val="1E2761"/>
          </a:solidFill>
          <a:ln/>
        </p:spPr>
      </p:sp>
      <p:sp>
        <p:nvSpPr>
          <p:cNvPr id="13" name="Text 11"/>
          <p:cNvSpPr/>
          <p:nvPr/>
        </p:nvSpPr>
        <p:spPr>
          <a:xfrm>
            <a:off x="777240" y="2816352"/>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a:t>
            </a:r>
            <a:endParaRPr lang="en-US" sz="1500" dirty="0"/>
          </a:p>
        </p:txBody>
      </p:sp>
      <p:sp>
        <p:nvSpPr>
          <p:cNvPr id="14" name="Text 12"/>
          <p:cNvSpPr/>
          <p:nvPr/>
        </p:nvSpPr>
        <p:spPr>
          <a:xfrm>
            <a:off x="1600200" y="2752344"/>
            <a:ext cx="3017520" cy="36576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Agent Changements</a:t>
            </a:r>
            <a:endParaRPr lang="en-US" sz="1450" dirty="0"/>
          </a:p>
        </p:txBody>
      </p:sp>
      <p:sp>
        <p:nvSpPr>
          <p:cNvPr id="15" name="Text 13"/>
          <p:cNvSpPr/>
          <p:nvPr/>
        </p:nvSpPr>
        <p:spPr>
          <a:xfrm>
            <a:off x="1600200" y="3099816"/>
            <a:ext cx="7315200" cy="502920"/>
          </a:xfrm>
          <a:prstGeom prst="rect">
            <a:avLst/>
          </a:prstGeom>
          <a:noFill/>
          <a:ln/>
        </p:spPr>
        <p:txBody>
          <a:bodyPr wrap="square" rtlCol="0" anchor="ctr"/>
          <a:lstStyle/>
          <a:p>
            <a:pPr indent="0" marL="0">
              <a:lnSpc>
                <a:spcPts val="1300"/>
              </a:lnSpc>
              <a:buNone/>
            </a:pPr>
            <a:r>
              <a:rPr lang="en-US" sz="1080" dirty="0">
                <a:solidFill>
                  <a:srgbClr val="5B6472"/>
                </a:solidFill>
                <a:latin typeface="Calibri" pitchFamily="34" charset="0"/>
                <a:ea typeface="Calibri" pitchFamily="34" charset="-122"/>
                <a:cs typeface="Calibri" pitchFamily="34" charset="-120"/>
              </a:rPr>
              <a:t>Évaluer l'impact et le risque d'un changement, détecter les conflits de planning et de CI.</a:t>
            </a:r>
            <a:endParaRPr lang="en-US" sz="1080" dirty="0"/>
          </a:p>
        </p:txBody>
      </p:sp>
      <p:sp>
        <p:nvSpPr>
          <p:cNvPr id="16" name="Shape 14"/>
          <p:cNvSpPr/>
          <p:nvPr/>
        </p:nvSpPr>
        <p:spPr>
          <a:xfrm>
            <a:off x="9098280" y="2834640"/>
            <a:ext cx="2331720" cy="310896"/>
          </a:xfrm>
          <a:prstGeom prst="roundRect">
            <a:avLst>
              <a:gd name="adj" fmla="val 50000"/>
            </a:avLst>
          </a:prstGeom>
          <a:solidFill>
            <a:srgbClr val="CADCFC"/>
          </a:solidFill>
          <a:ln/>
        </p:spPr>
      </p:sp>
      <p:sp>
        <p:nvSpPr>
          <p:cNvPr id="17" name="Text 15"/>
          <p:cNvSpPr/>
          <p:nvPr/>
        </p:nvSpPr>
        <p:spPr>
          <a:xfrm>
            <a:off x="9098280" y="2834640"/>
            <a:ext cx="2331720" cy="310896"/>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À CONSTRUIRE</a:t>
            </a:r>
            <a:endParaRPr lang="en-US" sz="1050" dirty="0"/>
          </a:p>
        </p:txBody>
      </p:sp>
      <p:sp>
        <p:nvSpPr>
          <p:cNvPr id="18" name="Shape 16"/>
          <p:cNvSpPr/>
          <p:nvPr/>
        </p:nvSpPr>
        <p:spPr>
          <a:xfrm>
            <a:off x="548640" y="3758184"/>
            <a:ext cx="11064240" cy="932688"/>
          </a:xfrm>
          <a:prstGeom prst="roundRect">
            <a:avLst>
              <a:gd name="adj" fmla="val 7843"/>
            </a:avLst>
          </a:prstGeom>
          <a:solidFill>
            <a:srgbClr val="F5F7FC"/>
          </a:solidFill>
          <a:ln w="12700">
            <a:solidFill>
              <a:srgbClr val="E3E7F3"/>
            </a:solidFill>
            <a:prstDash val="solid"/>
          </a:ln>
        </p:spPr>
      </p:sp>
      <p:sp>
        <p:nvSpPr>
          <p:cNvPr id="19" name="Shape 17"/>
          <p:cNvSpPr/>
          <p:nvPr/>
        </p:nvSpPr>
        <p:spPr>
          <a:xfrm>
            <a:off x="777240" y="3895344"/>
            <a:ext cx="640080" cy="640080"/>
          </a:xfrm>
          <a:prstGeom prst="ellipse">
            <a:avLst/>
          </a:prstGeom>
          <a:solidFill>
            <a:srgbClr val="1E2761"/>
          </a:solidFill>
          <a:ln/>
        </p:spPr>
      </p:sp>
      <p:sp>
        <p:nvSpPr>
          <p:cNvPr id="20" name="Text 18"/>
          <p:cNvSpPr/>
          <p:nvPr/>
        </p:nvSpPr>
        <p:spPr>
          <a:xfrm>
            <a:off x="777240" y="3895344"/>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PB</a:t>
            </a:r>
            <a:endParaRPr lang="en-US" sz="1500" dirty="0"/>
          </a:p>
        </p:txBody>
      </p:sp>
      <p:sp>
        <p:nvSpPr>
          <p:cNvPr id="21" name="Text 19"/>
          <p:cNvSpPr/>
          <p:nvPr/>
        </p:nvSpPr>
        <p:spPr>
          <a:xfrm>
            <a:off x="1600200" y="3831336"/>
            <a:ext cx="3017520" cy="36576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Agent Problèmes</a:t>
            </a:r>
            <a:endParaRPr lang="en-US" sz="1450" dirty="0"/>
          </a:p>
        </p:txBody>
      </p:sp>
      <p:sp>
        <p:nvSpPr>
          <p:cNvPr id="22" name="Text 20"/>
          <p:cNvSpPr/>
          <p:nvPr/>
        </p:nvSpPr>
        <p:spPr>
          <a:xfrm>
            <a:off x="1600200" y="4178808"/>
            <a:ext cx="7315200" cy="502920"/>
          </a:xfrm>
          <a:prstGeom prst="rect">
            <a:avLst/>
          </a:prstGeom>
          <a:noFill/>
          <a:ln/>
        </p:spPr>
        <p:txBody>
          <a:bodyPr wrap="square" rtlCol="0" anchor="ctr"/>
          <a:lstStyle/>
          <a:p>
            <a:pPr indent="0" marL="0">
              <a:lnSpc>
                <a:spcPts val="1300"/>
              </a:lnSpc>
              <a:buNone/>
            </a:pPr>
            <a:r>
              <a:rPr lang="en-US" sz="1080" dirty="0">
                <a:solidFill>
                  <a:srgbClr val="5B6472"/>
                </a:solidFill>
                <a:latin typeface="Calibri" pitchFamily="34" charset="0"/>
                <a:ea typeface="Calibri" pitchFamily="34" charset="-122"/>
                <a:cs typeface="Calibri" pitchFamily="34" charset="-120"/>
              </a:rPr>
              <a:t>Regrouper les incidents récurrents, identifier des causes racines à partir de l'historique.</a:t>
            </a:r>
            <a:endParaRPr lang="en-US" sz="1080" dirty="0"/>
          </a:p>
        </p:txBody>
      </p:sp>
      <p:sp>
        <p:nvSpPr>
          <p:cNvPr id="23" name="Shape 21"/>
          <p:cNvSpPr/>
          <p:nvPr/>
        </p:nvSpPr>
        <p:spPr>
          <a:xfrm>
            <a:off x="9098280" y="3913632"/>
            <a:ext cx="2331720" cy="310896"/>
          </a:xfrm>
          <a:prstGeom prst="roundRect">
            <a:avLst>
              <a:gd name="adj" fmla="val 50000"/>
            </a:avLst>
          </a:prstGeom>
          <a:solidFill>
            <a:srgbClr val="CADCFC"/>
          </a:solidFill>
          <a:ln/>
        </p:spPr>
      </p:sp>
      <p:sp>
        <p:nvSpPr>
          <p:cNvPr id="24" name="Text 22"/>
          <p:cNvSpPr/>
          <p:nvPr/>
        </p:nvSpPr>
        <p:spPr>
          <a:xfrm>
            <a:off x="9098280" y="3913632"/>
            <a:ext cx="2331720" cy="310896"/>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À CONSTRUIRE</a:t>
            </a:r>
            <a:endParaRPr lang="en-US" sz="1050" dirty="0"/>
          </a:p>
        </p:txBody>
      </p:sp>
      <p:sp>
        <p:nvSpPr>
          <p:cNvPr id="25" name="Shape 23"/>
          <p:cNvSpPr/>
          <p:nvPr/>
        </p:nvSpPr>
        <p:spPr>
          <a:xfrm>
            <a:off x="548640" y="4837176"/>
            <a:ext cx="11064240" cy="932688"/>
          </a:xfrm>
          <a:prstGeom prst="roundRect">
            <a:avLst>
              <a:gd name="adj" fmla="val 7843"/>
            </a:avLst>
          </a:prstGeom>
          <a:solidFill>
            <a:srgbClr val="F5F7FC"/>
          </a:solidFill>
          <a:ln w="12700">
            <a:solidFill>
              <a:srgbClr val="E3E7F3"/>
            </a:solidFill>
            <a:prstDash val="solid"/>
          </a:ln>
        </p:spPr>
      </p:sp>
      <p:sp>
        <p:nvSpPr>
          <p:cNvPr id="26" name="Shape 24"/>
          <p:cNvSpPr/>
          <p:nvPr/>
        </p:nvSpPr>
        <p:spPr>
          <a:xfrm>
            <a:off x="777240" y="4974336"/>
            <a:ext cx="640080" cy="640080"/>
          </a:xfrm>
          <a:prstGeom prst="ellipse">
            <a:avLst/>
          </a:prstGeom>
          <a:solidFill>
            <a:srgbClr val="1E2761"/>
          </a:solidFill>
          <a:ln/>
        </p:spPr>
      </p:sp>
      <p:sp>
        <p:nvSpPr>
          <p:cNvPr id="27" name="Text 25"/>
          <p:cNvSpPr/>
          <p:nvPr/>
        </p:nvSpPr>
        <p:spPr>
          <a:xfrm>
            <a:off x="777240" y="4974336"/>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QoS</a:t>
            </a:r>
            <a:endParaRPr lang="en-US" sz="1500" dirty="0"/>
          </a:p>
        </p:txBody>
      </p:sp>
      <p:sp>
        <p:nvSpPr>
          <p:cNvPr id="28" name="Text 26"/>
          <p:cNvSpPr/>
          <p:nvPr/>
        </p:nvSpPr>
        <p:spPr>
          <a:xfrm>
            <a:off x="1600200" y="4910328"/>
            <a:ext cx="3017520" cy="36576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Agent QoS</a:t>
            </a:r>
            <a:endParaRPr lang="en-US" sz="1450" dirty="0"/>
          </a:p>
        </p:txBody>
      </p:sp>
      <p:sp>
        <p:nvSpPr>
          <p:cNvPr id="29" name="Text 27"/>
          <p:cNvSpPr/>
          <p:nvPr/>
        </p:nvSpPr>
        <p:spPr>
          <a:xfrm>
            <a:off x="1600200" y="5257800"/>
            <a:ext cx="7315200" cy="502920"/>
          </a:xfrm>
          <a:prstGeom prst="rect">
            <a:avLst/>
          </a:prstGeom>
          <a:noFill/>
          <a:ln/>
        </p:spPr>
        <p:txBody>
          <a:bodyPr wrap="square" rtlCol="0" anchor="ctr"/>
          <a:lstStyle/>
          <a:p>
            <a:pPr indent="0" marL="0">
              <a:lnSpc>
                <a:spcPts val="1300"/>
              </a:lnSpc>
              <a:buNone/>
            </a:pPr>
            <a:r>
              <a:rPr lang="en-US" sz="1080" dirty="0">
                <a:solidFill>
                  <a:srgbClr val="5B6472"/>
                </a:solidFill>
                <a:latin typeface="Calibri" pitchFamily="34" charset="0"/>
                <a:ea typeface="Calibri" pitchFamily="34" charset="-122"/>
                <a:cs typeface="Calibri" pitchFamily="34" charset="-120"/>
              </a:rPr>
              <a:t>Synthétiser les indicateurs, détecter une dérive de SLA et générer une alerte ou un rapport.</a:t>
            </a:r>
            <a:endParaRPr lang="en-US" sz="1080" dirty="0"/>
          </a:p>
        </p:txBody>
      </p:sp>
      <p:sp>
        <p:nvSpPr>
          <p:cNvPr id="30" name="Shape 28"/>
          <p:cNvSpPr/>
          <p:nvPr/>
        </p:nvSpPr>
        <p:spPr>
          <a:xfrm>
            <a:off x="9098280" y="4992624"/>
            <a:ext cx="2331720" cy="310896"/>
          </a:xfrm>
          <a:prstGeom prst="roundRect">
            <a:avLst>
              <a:gd name="adj" fmla="val 50000"/>
            </a:avLst>
          </a:prstGeom>
          <a:solidFill>
            <a:srgbClr val="CADCFC"/>
          </a:solidFill>
          <a:ln/>
        </p:spPr>
      </p:sp>
      <p:sp>
        <p:nvSpPr>
          <p:cNvPr id="31" name="Text 29"/>
          <p:cNvSpPr/>
          <p:nvPr/>
        </p:nvSpPr>
        <p:spPr>
          <a:xfrm>
            <a:off x="9098280" y="4992624"/>
            <a:ext cx="2331720" cy="310896"/>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À CONSTRUIRE</a:t>
            </a:r>
            <a:endParaRPr lang="en-US" sz="1050" dirty="0"/>
          </a:p>
        </p:txBody>
      </p:sp>
      <p:sp>
        <p:nvSpPr>
          <p:cNvPr id="32" name="Text 30"/>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33" name="Text 3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NOTRE FEUILLE DE ROUTE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Les briques (Tools) à préparer par agent</a:t>
            </a:r>
            <a:endParaRPr lang="en-US" sz="3000" dirty="0"/>
          </a:p>
        </p:txBody>
      </p:sp>
      <p:sp>
        <p:nvSpPr>
          <p:cNvPr id="4" name="Shape 2"/>
          <p:cNvSpPr/>
          <p:nvPr/>
        </p:nvSpPr>
        <p:spPr>
          <a:xfrm>
            <a:off x="548640" y="1691640"/>
            <a:ext cx="11064240" cy="457200"/>
          </a:xfrm>
          <a:prstGeom prst="roundRect">
            <a:avLst>
              <a:gd name="adj" fmla="val 12000"/>
            </a:avLst>
          </a:prstGeom>
          <a:solidFill>
            <a:srgbClr val="1E2761"/>
          </a:solidFill>
          <a:ln/>
        </p:spPr>
      </p:sp>
      <p:sp>
        <p:nvSpPr>
          <p:cNvPr id="5" name="Text 3"/>
          <p:cNvSpPr/>
          <p:nvPr/>
        </p:nvSpPr>
        <p:spPr>
          <a:xfrm>
            <a:off x="731520" y="1691640"/>
            <a:ext cx="1463040" cy="45720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Agent</a:t>
            </a:r>
            <a:endParaRPr lang="en-US" sz="1150" dirty="0"/>
          </a:p>
        </p:txBody>
      </p:sp>
      <p:sp>
        <p:nvSpPr>
          <p:cNvPr id="6" name="Text 4"/>
          <p:cNvSpPr/>
          <p:nvPr/>
        </p:nvSpPr>
        <p:spPr>
          <a:xfrm>
            <a:off x="2468880" y="1691640"/>
            <a:ext cx="5212080" cy="45720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Tools nécessaires</a:t>
            </a:r>
            <a:endParaRPr lang="en-US" sz="1150" dirty="0"/>
          </a:p>
        </p:txBody>
      </p:sp>
      <p:sp>
        <p:nvSpPr>
          <p:cNvPr id="7" name="Text 5"/>
          <p:cNvSpPr/>
          <p:nvPr/>
        </p:nvSpPr>
        <p:spPr>
          <a:xfrm>
            <a:off x="7955280" y="1691640"/>
            <a:ext cx="3566160" cy="45720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Source de données</a:t>
            </a:r>
            <a:endParaRPr lang="en-US" sz="1150" dirty="0"/>
          </a:p>
        </p:txBody>
      </p:sp>
      <p:sp>
        <p:nvSpPr>
          <p:cNvPr id="8" name="Shape 6"/>
          <p:cNvSpPr/>
          <p:nvPr/>
        </p:nvSpPr>
        <p:spPr>
          <a:xfrm>
            <a:off x="548640" y="2148840"/>
            <a:ext cx="11064240" cy="987552"/>
          </a:xfrm>
          <a:prstGeom prst="rect">
            <a:avLst/>
          </a:prstGeom>
          <a:solidFill>
            <a:srgbClr val="FFFFFF"/>
          </a:solidFill>
          <a:ln/>
        </p:spPr>
      </p:sp>
      <p:sp>
        <p:nvSpPr>
          <p:cNvPr id="9" name="Text 7"/>
          <p:cNvSpPr/>
          <p:nvPr/>
        </p:nvSpPr>
        <p:spPr>
          <a:xfrm>
            <a:off x="731520" y="2221992"/>
            <a:ext cx="1417320" cy="841248"/>
          </a:xfrm>
          <a:prstGeom prst="rect">
            <a:avLst/>
          </a:prstGeom>
          <a:noFill/>
          <a:ln/>
        </p:spPr>
        <p:txBody>
          <a:bodyPr wrap="square" rtlCol="0" anchor="ctr"/>
          <a:lstStyle/>
          <a:p>
            <a:pPr indent="0" marL="0">
              <a:lnSpc>
                <a:spcPts val="1300"/>
              </a:lnSpc>
              <a:buNone/>
            </a:pPr>
            <a:r>
              <a:rPr lang="en-US" sz="1250" b="1" dirty="0">
                <a:solidFill>
                  <a:srgbClr val="1E2761"/>
                </a:solidFill>
                <a:latin typeface="Calibri" pitchFamily="34" charset="0"/>
                <a:ea typeface="Calibri" pitchFamily="34" charset="-122"/>
                <a:cs typeface="Calibri" pitchFamily="34" charset="-120"/>
              </a:rPr>
              <a:t>Incidents</a:t>
            </a:r>
            <a:endParaRPr lang="en-US" sz="1250" dirty="0"/>
          </a:p>
        </p:txBody>
      </p:sp>
      <p:sp>
        <p:nvSpPr>
          <p:cNvPr id="10" name="Text 8"/>
          <p:cNvSpPr/>
          <p:nvPr/>
        </p:nvSpPr>
        <p:spPr>
          <a:xfrm>
            <a:off x="2468880" y="2221992"/>
            <a:ext cx="5166360" cy="841248"/>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Lookup changements corrélés (fait) + lookup incidents similaires</a:t>
            </a:r>
            <a:endParaRPr lang="en-US" sz="1050" dirty="0"/>
          </a:p>
        </p:txBody>
      </p:sp>
      <p:sp>
        <p:nvSpPr>
          <p:cNvPr id="11" name="Text 9"/>
          <p:cNvSpPr/>
          <p:nvPr/>
        </p:nvSpPr>
        <p:spPr>
          <a:xfrm>
            <a:off x="7955280" y="2221992"/>
            <a:ext cx="3520440" cy="841248"/>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Historique incidents &amp; changements</a:t>
            </a:r>
            <a:endParaRPr lang="en-US" sz="1050" dirty="0"/>
          </a:p>
        </p:txBody>
      </p:sp>
      <p:sp>
        <p:nvSpPr>
          <p:cNvPr id="12" name="Shape 10"/>
          <p:cNvSpPr/>
          <p:nvPr/>
        </p:nvSpPr>
        <p:spPr>
          <a:xfrm>
            <a:off x="548640" y="3136392"/>
            <a:ext cx="11064240" cy="987552"/>
          </a:xfrm>
          <a:prstGeom prst="rect">
            <a:avLst/>
          </a:prstGeom>
          <a:solidFill>
            <a:srgbClr val="EEF1FA"/>
          </a:solidFill>
          <a:ln/>
        </p:spPr>
      </p:sp>
      <p:sp>
        <p:nvSpPr>
          <p:cNvPr id="13" name="Text 11"/>
          <p:cNvSpPr/>
          <p:nvPr/>
        </p:nvSpPr>
        <p:spPr>
          <a:xfrm>
            <a:off x="731520" y="3209544"/>
            <a:ext cx="1417320" cy="841248"/>
          </a:xfrm>
          <a:prstGeom prst="rect">
            <a:avLst/>
          </a:prstGeom>
          <a:noFill/>
          <a:ln/>
        </p:spPr>
        <p:txBody>
          <a:bodyPr wrap="square" rtlCol="0" anchor="ctr"/>
          <a:lstStyle/>
          <a:p>
            <a:pPr indent="0" marL="0">
              <a:lnSpc>
                <a:spcPts val="1300"/>
              </a:lnSpc>
              <a:buNone/>
            </a:pPr>
            <a:r>
              <a:rPr lang="en-US" sz="1250" b="1" dirty="0">
                <a:solidFill>
                  <a:srgbClr val="1E2761"/>
                </a:solidFill>
                <a:latin typeface="Calibri" pitchFamily="34" charset="0"/>
                <a:ea typeface="Calibri" pitchFamily="34" charset="-122"/>
                <a:cs typeface="Calibri" pitchFamily="34" charset="-120"/>
              </a:rPr>
              <a:t>Changements</a:t>
            </a:r>
            <a:endParaRPr lang="en-US" sz="1250" dirty="0"/>
          </a:p>
        </p:txBody>
      </p:sp>
      <p:sp>
        <p:nvSpPr>
          <p:cNvPr id="14" name="Text 12"/>
          <p:cNvSpPr/>
          <p:nvPr/>
        </p:nvSpPr>
        <p:spPr>
          <a:xfrm>
            <a:off x="2468880" y="3209544"/>
            <a:ext cx="5166360" cy="841248"/>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Lookup CI impactés + modèle de scoring de risque + alerte email</a:t>
            </a:r>
            <a:endParaRPr lang="en-US" sz="1050" dirty="0"/>
          </a:p>
        </p:txBody>
      </p:sp>
      <p:sp>
        <p:nvSpPr>
          <p:cNvPr id="15" name="Text 13"/>
          <p:cNvSpPr/>
          <p:nvPr/>
        </p:nvSpPr>
        <p:spPr>
          <a:xfrm>
            <a:off x="7955280" y="3209544"/>
            <a:ext cx="3520440" cy="841248"/>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CMDB, planning des changements</a:t>
            </a:r>
            <a:endParaRPr lang="en-US" sz="1050" dirty="0"/>
          </a:p>
        </p:txBody>
      </p:sp>
      <p:sp>
        <p:nvSpPr>
          <p:cNvPr id="16" name="Shape 14"/>
          <p:cNvSpPr/>
          <p:nvPr/>
        </p:nvSpPr>
        <p:spPr>
          <a:xfrm>
            <a:off x="548640" y="4123944"/>
            <a:ext cx="11064240" cy="987552"/>
          </a:xfrm>
          <a:prstGeom prst="rect">
            <a:avLst/>
          </a:prstGeom>
          <a:solidFill>
            <a:srgbClr val="FFFFFF"/>
          </a:solidFill>
          <a:ln/>
        </p:spPr>
      </p:sp>
      <p:sp>
        <p:nvSpPr>
          <p:cNvPr id="17" name="Text 15"/>
          <p:cNvSpPr/>
          <p:nvPr/>
        </p:nvSpPr>
        <p:spPr>
          <a:xfrm>
            <a:off x="731520" y="4197096"/>
            <a:ext cx="1417320" cy="841248"/>
          </a:xfrm>
          <a:prstGeom prst="rect">
            <a:avLst/>
          </a:prstGeom>
          <a:noFill/>
          <a:ln/>
        </p:spPr>
        <p:txBody>
          <a:bodyPr wrap="square" rtlCol="0" anchor="ctr"/>
          <a:lstStyle/>
          <a:p>
            <a:pPr indent="0" marL="0">
              <a:lnSpc>
                <a:spcPts val="1300"/>
              </a:lnSpc>
              <a:buNone/>
            </a:pPr>
            <a:r>
              <a:rPr lang="en-US" sz="1250" b="1" dirty="0">
                <a:solidFill>
                  <a:srgbClr val="1E2761"/>
                </a:solidFill>
                <a:latin typeface="Calibri" pitchFamily="34" charset="0"/>
                <a:ea typeface="Calibri" pitchFamily="34" charset="-122"/>
                <a:cs typeface="Calibri" pitchFamily="34" charset="-120"/>
              </a:rPr>
              <a:t>Problèmes</a:t>
            </a:r>
            <a:endParaRPr lang="en-US" sz="1250" dirty="0"/>
          </a:p>
        </p:txBody>
      </p:sp>
      <p:sp>
        <p:nvSpPr>
          <p:cNvPr id="18" name="Text 16"/>
          <p:cNvSpPr/>
          <p:nvPr/>
        </p:nvSpPr>
        <p:spPr>
          <a:xfrm>
            <a:off x="2468880" y="4197096"/>
            <a:ext cx="5166360" cy="841248"/>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Recherche documentaire (post-mortems) + regroupement d'incidents</a:t>
            </a:r>
            <a:endParaRPr lang="en-US" sz="1050" dirty="0"/>
          </a:p>
        </p:txBody>
      </p:sp>
      <p:sp>
        <p:nvSpPr>
          <p:cNvPr id="19" name="Text 17"/>
          <p:cNvSpPr/>
          <p:nvPr/>
        </p:nvSpPr>
        <p:spPr>
          <a:xfrm>
            <a:off x="7955280" y="4197096"/>
            <a:ext cx="3520440" cy="841248"/>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Base de connaissances, tickets</a:t>
            </a:r>
            <a:endParaRPr lang="en-US" sz="1050" dirty="0"/>
          </a:p>
        </p:txBody>
      </p:sp>
      <p:sp>
        <p:nvSpPr>
          <p:cNvPr id="20" name="Shape 18"/>
          <p:cNvSpPr/>
          <p:nvPr/>
        </p:nvSpPr>
        <p:spPr>
          <a:xfrm>
            <a:off x="548640" y="5111496"/>
            <a:ext cx="11064240" cy="987552"/>
          </a:xfrm>
          <a:prstGeom prst="rect">
            <a:avLst/>
          </a:prstGeom>
          <a:solidFill>
            <a:srgbClr val="EEF1FA"/>
          </a:solidFill>
          <a:ln/>
        </p:spPr>
      </p:sp>
      <p:sp>
        <p:nvSpPr>
          <p:cNvPr id="21" name="Text 19"/>
          <p:cNvSpPr/>
          <p:nvPr/>
        </p:nvSpPr>
        <p:spPr>
          <a:xfrm>
            <a:off x="731520" y="5184648"/>
            <a:ext cx="1417320" cy="841248"/>
          </a:xfrm>
          <a:prstGeom prst="rect">
            <a:avLst/>
          </a:prstGeom>
          <a:noFill/>
          <a:ln/>
        </p:spPr>
        <p:txBody>
          <a:bodyPr wrap="square" rtlCol="0" anchor="ctr"/>
          <a:lstStyle/>
          <a:p>
            <a:pPr indent="0" marL="0">
              <a:lnSpc>
                <a:spcPts val="1300"/>
              </a:lnSpc>
              <a:buNone/>
            </a:pPr>
            <a:r>
              <a:rPr lang="en-US" sz="1250" b="1" dirty="0">
                <a:solidFill>
                  <a:srgbClr val="1E2761"/>
                </a:solidFill>
                <a:latin typeface="Calibri" pitchFamily="34" charset="0"/>
                <a:ea typeface="Calibri" pitchFamily="34" charset="-122"/>
                <a:cs typeface="Calibri" pitchFamily="34" charset="-120"/>
              </a:rPr>
              <a:t>QoS</a:t>
            </a:r>
            <a:endParaRPr lang="en-US" sz="1250" dirty="0"/>
          </a:p>
        </p:txBody>
      </p:sp>
      <p:sp>
        <p:nvSpPr>
          <p:cNvPr id="22" name="Text 20"/>
          <p:cNvSpPr/>
          <p:nvPr/>
        </p:nvSpPr>
        <p:spPr>
          <a:xfrm>
            <a:off x="2468880" y="5184648"/>
            <a:ext cx="5166360" cy="841248"/>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Lookup indicateurs SLA + détection de seuil + génération de rapport</a:t>
            </a:r>
            <a:endParaRPr lang="en-US" sz="1050" dirty="0"/>
          </a:p>
        </p:txBody>
      </p:sp>
      <p:sp>
        <p:nvSpPr>
          <p:cNvPr id="23" name="Text 21"/>
          <p:cNvSpPr/>
          <p:nvPr/>
        </p:nvSpPr>
        <p:spPr>
          <a:xfrm>
            <a:off x="7955280" y="5184648"/>
            <a:ext cx="3520440" cy="841248"/>
          </a:xfrm>
          <a:prstGeom prst="rect">
            <a:avLst/>
          </a:prstGeom>
          <a:noFill/>
          <a:ln/>
        </p:spPr>
        <p:txBody>
          <a:bodyPr wrap="square" rtlCol="0" anchor="ctr"/>
          <a:lstStyle/>
          <a:p>
            <a:pPr indent="0" marL="0">
              <a:lnSpc>
                <a:spcPts val="1300"/>
              </a:lnSpc>
              <a:buNone/>
            </a:pPr>
            <a:r>
              <a:rPr lang="en-US" sz="1050" dirty="0">
                <a:solidFill>
                  <a:srgbClr val="5B6472"/>
                </a:solidFill>
                <a:latin typeface="Calibri" pitchFamily="34" charset="0"/>
                <a:ea typeface="Calibri" pitchFamily="34" charset="-122"/>
                <a:cs typeface="Calibri" pitchFamily="34" charset="-120"/>
              </a:rPr>
              <a:t>Tableaux de bord QoS, mesures</a:t>
            </a:r>
            <a:endParaRPr lang="en-US" sz="1050" dirty="0"/>
          </a:p>
        </p:txBody>
      </p:sp>
      <p:sp>
        <p:nvSpPr>
          <p:cNvPr id="24" name="Shape 22"/>
          <p:cNvSpPr/>
          <p:nvPr/>
        </p:nvSpPr>
        <p:spPr>
          <a:xfrm>
            <a:off x="548640" y="1691640"/>
            <a:ext cx="0" cy="4407408"/>
          </a:xfrm>
          <a:prstGeom prst="line">
            <a:avLst/>
          </a:prstGeom>
          <a:noFill/>
          <a:ln w="12700">
            <a:solidFill>
              <a:srgbClr val="E3E7F3"/>
            </a:solidFill>
            <a:prstDash val="solid"/>
          </a:ln>
        </p:spPr>
      </p:sp>
      <p:sp>
        <p:nvSpPr>
          <p:cNvPr id="25" name="Text 2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POURQUOI S'Y ENGAGER</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Les bénéfices attendus</a:t>
            </a:r>
            <a:endParaRPr lang="en-US" sz="3000" dirty="0"/>
          </a:p>
        </p:txBody>
      </p:sp>
      <p:sp>
        <p:nvSpPr>
          <p:cNvPr id="4" name="Shape 2"/>
          <p:cNvSpPr/>
          <p:nvPr/>
        </p:nvSpPr>
        <p:spPr>
          <a:xfrm>
            <a:off x="548640" y="1691640"/>
            <a:ext cx="3611880" cy="2148840"/>
          </a:xfrm>
          <a:prstGeom prst="roundRect">
            <a:avLst>
              <a:gd name="adj" fmla="val 4255"/>
            </a:avLst>
          </a:prstGeom>
          <a:solidFill>
            <a:srgbClr val="F5F7FC"/>
          </a:solidFill>
          <a:ln w="12700">
            <a:solidFill>
              <a:srgbClr val="E3E7F3"/>
            </a:solidFill>
            <a:prstDash val="solid"/>
          </a:ln>
        </p:spPr>
      </p:sp>
      <p:sp>
        <p:nvSpPr>
          <p:cNvPr id="5" name="Shape 3"/>
          <p:cNvSpPr/>
          <p:nvPr/>
        </p:nvSpPr>
        <p:spPr>
          <a:xfrm>
            <a:off x="749808" y="1892808"/>
            <a:ext cx="457200" cy="457200"/>
          </a:xfrm>
          <a:prstGeom prst="roundRect">
            <a:avLst>
              <a:gd name="adj" fmla="val 50000"/>
            </a:avLst>
          </a:prstGeom>
          <a:solidFill>
            <a:srgbClr val="1E2761"/>
          </a:solidFill>
          <a:ln/>
        </p:spPr>
      </p:sp>
      <p:sp>
        <p:nvSpPr>
          <p:cNvPr id="6" name="Text 4"/>
          <p:cNvSpPr/>
          <p:nvPr/>
        </p:nvSpPr>
        <p:spPr>
          <a:xfrm>
            <a:off x="749808" y="189280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49808" y="2468880"/>
            <a:ext cx="3209544" cy="502920"/>
          </a:xfrm>
          <a:prstGeom prst="rect">
            <a:avLst/>
          </a:prstGeom>
          <a:noFill/>
          <a:ln/>
        </p:spPr>
        <p:txBody>
          <a:bodyPr wrap="square" rtlCol="0" anchor="ctr"/>
          <a:lstStyle/>
          <a:p>
            <a:pPr indent="0" marL="0">
              <a:lnSpc>
                <a:spcPts val="1400"/>
              </a:lnSpc>
              <a:buNone/>
            </a:pPr>
            <a:r>
              <a:rPr lang="en-US" sz="1250" b="1" dirty="0">
                <a:solidFill>
                  <a:srgbClr val="1E2761"/>
                </a:solidFill>
                <a:latin typeface="Cambria" pitchFamily="34" charset="0"/>
                <a:ea typeface="Cambria" pitchFamily="34" charset="-122"/>
                <a:cs typeface="Cambria" pitchFamily="34" charset="-120"/>
              </a:rPr>
              <a:t>Temps de résolution réduit</a:t>
            </a:r>
            <a:endParaRPr lang="en-US" sz="1250" dirty="0"/>
          </a:p>
        </p:txBody>
      </p:sp>
      <p:sp>
        <p:nvSpPr>
          <p:cNvPr id="8" name="Text 6"/>
          <p:cNvSpPr/>
          <p:nvPr/>
        </p:nvSpPr>
        <p:spPr>
          <a:xfrm>
            <a:off x="749808" y="3017520"/>
            <a:ext cx="3209544" cy="777240"/>
          </a:xfrm>
          <a:prstGeom prst="rect">
            <a:avLst/>
          </a:prstGeom>
          <a:noFill/>
          <a:ln/>
        </p:spPr>
        <p:txBody>
          <a:bodyPr wrap="square" rtlCol="0" anchor="ctr"/>
          <a:lstStyle/>
          <a:p>
            <a:pPr indent="0" marL="0">
              <a:lnSpc>
                <a:spcPts val="1300"/>
              </a:lnSpc>
              <a:buNone/>
            </a:pPr>
            <a:r>
              <a:rPr lang="en-US" sz="1000" dirty="0">
                <a:solidFill>
                  <a:srgbClr val="5B6472"/>
                </a:solidFill>
                <a:latin typeface="Calibri" pitchFamily="34" charset="0"/>
                <a:ea typeface="Calibri" pitchFamily="34" charset="-122"/>
                <a:cs typeface="Calibri" pitchFamily="34" charset="-120"/>
              </a:rPr>
              <a:t>Moins de recherche manuelle en astreinte, une réponse en quelques secondes.</a:t>
            </a:r>
            <a:endParaRPr lang="en-US" sz="1000" dirty="0"/>
          </a:p>
        </p:txBody>
      </p:sp>
      <p:sp>
        <p:nvSpPr>
          <p:cNvPr id="9" name="Shape 7"/>
          <p:cNvSpPr/>
          <p:nvPr/>
        </p:nvSpPr>
        <p:spPr>
          <a:xfrm>
            <a:off x="4379976" y="1691640"/>
            <a:ext cx="3611880" cy="2148840"/>
          </a:xfrm>
          <a:prstGeom prst="roundRect">
            <a:avLst>
              <a:gd name="adj" fmla="val 4255"/>
            </a:avLst>
          </a:prstGeom>
          <a:solidFill>
            <a:srgbClr val="F5F7FC"/>
          </a:solidFill>
          <a:ln w="12700">
            <a:solidFill>
              <a:srgbClr val="E3E7F3"/>
            </a:solidFill>
            <a:prstDash val="solid"/>
          </a:ln>
        </p:spPr>
      </p:sp>
      <p:sp>
        <p:nvSpPr>
          <p:cNvPr id="10" name="Shape 8"/>
          <p:cNvSpPr/>
          <p:nvPr/>
        </p:nvSpPr>
        <p:spPr>
          <a:xfrm>
            <a:off x="4581144" y="1892808"/>
            <a:ext cx="457200" cy="457200"/>
          </a:xfrm>
          <a:prstGeom prst="roundRect">
            <a:avLst>
              <a:gd name="adj" fmla="val 50000"/>
            </a:avLst>
          </a:prstGeom>
          <a:solidFill>
            <a:srgbClr val="1E2761"/>
          </a:solidFill>
          <a:ln/>
        </p:spPr>
      </p:sp>
      <p:sp>
        <p:nvSpPr>
          <p:cNvPr id="11" name="Text 9"/>
          <p:cNvSpPr/>
          <p:nvPr/>
        </p:nvSpPr>
        <p:spPr>
          <a:xfrm>
            <a:off x="4581144" y="189280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581144" y="2468880"/>
            <a:ext cx="3209544" cy="502920"/>
          </a:xfrm>
          <a:prstGeom prst="rect">
            <a:avLst/>
          </a:prstGeom>
          <a:noFill/>
          <a:ln/>
        </p:spPr>
        <p:txBody>
          <a:bodyPr wrap="square" rtlCol="0" anchor="ctr"/>
          <a:lstStyle/>
          <a:p>
            <a:pPr indent="0" marL="0">
              <a:lnSpc>
                <a:spcPts val="1400"/>
              </a:lnSpc>
              <a:buNone/>
            </a:pPr>
            <a:r>
              <a:rPr lang="en-US" sz="1250" b="1" dirty="0">
                <a:solidFill>
                  <a:srgbClr val="1E2761"/>
                </a:solidFill>
                <a:latin typeface="Cambria" pitchFamily="34" charset="0"/>
                <a:ea typeface="Cambria" pitchFamily="34" charset="-122"/>
                <a:cs typeface="Cambria" pitchFamily="34" charset="-120"/>
              </a:rPr>
              <a:t>Décisions plus fiables</a:t>
            </a:r>
            <a:endParaRPr lang="en-US" sz="1250" dirty="0"/>
          </a:p>
        </p:txBody>
      </p:sp>
      <p:sp>
        <p:nvSpPr>
          <p:cNvPr id="13" name="Text 11"/>
          <p:cNvSpPr/>
          <p:nvPr/>
        </p:nvSpPr>
        <p:spPr>
          <a:xfrm>
            <a:off x="4581144" y="3017520"/>
            <a:ext cx="3209544" cy="777240"/>
          </a:xfrm>
          <a:prstGeom prst="rect">
            <a:avLst/>
          </a:prstGeom>
          <a:noFill/>
          <a:ln/>
        </p:spPr>
        <p:txBody>
          <a:bodyPr wrap="square" rtlCol="0" anchor="ctr"/>
          <a:lstStyle/>
          <a:p>
            <a:pPr indent="0" marL="0">
              <a:lnSpc>
                <a:spcPts val="1300"/>
              </a:lnSpc>
              <a:buNone/>
            </a:pPr>
            <a:r>
              <a:rPr lang="en-US" sz="1000" dirty="0">
                <a:solidFill>
                  <a:srgbClr val="5B6472"/>
                </a:solidFill>
                <a:latin typeface="Calibri" pitchFamily="34" charset="0"/>
                <a:ea typeface="Calibri" pitchFamily="34" charset="-122"/>
                <a:cs typeface="Calibri" pitchFamily="34" charset="-120"/>
              </a:rPr>
              <a:t>Une analyse cohérente, tracée, moins dépendante de l'expertise individuelle.</a:t>
            </a:r>
            <a:endParaRPr lang="en-US" sz="1000" dirty="0"/>
          </a:p>
        </p:txBody>
      </p:sp>
      <p:sp>
        <p:nvSpPr>
          <p:cNvPr id="14" name="Shape 12"/>
          <p:cNvSpPr/>
          <p:nvPr/>
        </p:nvSpPr>
        <p:spPr>
          <a:xfrm>
            <a:off x="8211312" y="1691640"/>
            <a:ext cx="3611880" cy="2148840"/>
          </a:xfrm>
          <a:prstGeom prst="roundRect">
            <a:avLst>
              <a:gd name="adj" fmla="val 4255"/>
            </a:avLst>
          </a:prstGeom>
          <a:solidFill>
            <a:srgbClr val="F5F7FC"/>
          </a:solidFill>
          <a:ln w="12700">
            <a:solidFill>
              <a:srgbClr val="E3E7F3"/>
            </a:solidFill>
            <a:prstDash val="solid"/>
          </a:ln>
        </p:spPr>
      </p:sp>
      <p:sp>
        <p:nvSpPr>
          <p:cNvPr id="15" name="Shape 13"/>
          <p:cNvSpPr/>
          <p:nvPr/>
        </p:nvSpPr>
        <p:spPr>
          <a:xfrm>
            <a:off x="8412480" y="1892808"/>
            <a:ext cx="457200" cy="457200"/>
          </a:xfrm>
          <a:prstGeom prst="roundRect">
            <a:avLst>
              <a:gd name="adj" fmla="val 50000"/>
            </a:avLst>
          </a:prstGeom>
          <a:solidFill>
            <a:srgbClr val="1E2761"/>
          </a:solidFill>
          <a:ln/>
        </p:spPr>
      </p:sp>
      <p:sp>
        <p:nvSpPr>
          <p:cNvPr id="16" name="Text 14"/>
          <p:cNvSpPr/>
          <p:nvPr/>
        </p:nvSpPr>
        <p:spPr>
          <a:xfrm>
            <a:off x="8412480" y="189280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412480" y="2468880"/>
            <a:ext cx="3209544" cy="502920"/>
          </a:xfrm>
          <a:prstGeom prst="rect">
            <a:avLst/>
          </a:prstGeom>
          <a:noFill/>
          <a:ln/>
        </p:spPr>
        <p:txBody>
          <a:bodyPr wrap="square" rtlCol="0" anchor="ctr"/>
          <a:lstStyle/>
          <a:p>
            <a:pPr indent="0" marL="0">
              <a:lnSpc>
                <a:spcPts val="1400"/>
              </a:lnSpc>
              <a:buNone/>
            </a:pPr>
            <a:r>
              <a:rPr lang="en-US" sz="1250" b="1" dirty="0">
                <a:solidFill>
                  <a:srgbClr val="1E2761"/>
                </a:solidFill>
                <a:latin typeface="Cambria" pitchFamily="34" charset="0"/>
                <a:ea typeface="Cambria" pitchFamily="34" charset="-122"/>
                <a:cs typeface="Cambria" pitchFamily="34" charset="-120"/>
              </a:rPr>
              <a:t>Self-service métier</a:t>
            </a:r>
            <a:endParaRPr lang="en-US" sz="1250" dirty="0"/>
          </a:p>
        </p:txBody>
      </p:sp>
      <p:sp>
        <p:nvSpPr>
          <p:cNvPr id="18" name="Text 16"/>
          <p:cNvSpPr/>
          <p:nvPr/>
        </p:nvSpPr>
        <p:spPr>
          <a:xfrm>
            <a:off x="8412480" y="3017520"/>
            <a:ext cx="3209544" cy="777240"/>
          </a:xfrm>
          <a:prstGeom prst="rect">
            <a:avLst/>
          </a:prstGeom>
          <a:noFill/>
          <a:ln/>
        </p:spPr>
        <p:txBody>
          <a:bodyPr wrap="square" rtlCol="0" anchor="ctr"/>
          <a:lstStyle/>
          <a:p>
            <a:pPr indent="0" marL="0">
              <a:lnSpc>
                <a:spcPts val="1300"/>
              </a:lnSpc>
              <a:buNone/>
            </a:pPr>
            <a:r>
              <a:rPr lang="en-US" sz="1000" dirty="0">
                <a:solidFill>
                  <a:srgbClr val="5B6472"/>
                </a:solidFill>
                <a:latin typeface="Calibri" pitchFamily="34" charset="0"/>
                <a:ea typeface="Calibri" pitchFamily="34" charset="-122"/>
                <a:cs typeface="Calibri" pitchFamily="34" charset="-120"/>
              </a:rPr>
              <a:t>Les équipes créent leurs propres Quick Agents sans attendre l'IT.</a:t>
            </a:r>
            <a:endParaRPr lang="en-US" sz="1000" dirty="0"/>
          </a:p>
        </p:txBody>
      </p:sp>
      <p:sp>
        <p:nvSpPr>
          <p:cNvPr id="19" name="Shape 17"/>
          <p:cNvSpPr/>
          <p:nvPr/>
        </p:nvSpPr>
        <p:spPr>
          <a:xfrm>
            <a:off x="548640" y="4114800"/>
            <a:ext cx="3611880" cy="2148840"/>
          </a:xfrm>
          <a:prstGeom prst="roundRect">
            <a:avLst>
              <a:gd name="adj" fmla="val 4255"/>
            </a:avLst>
          </a:prstGeom>
          <a:solidFill>
            <a:srgbClr val="F5F7FC"/>
          </a:solidFill>
          <a:ln w="12700">
            <a:solidFill>
              <a:srgbClr val="E3E7F3"/>
            </a:solidFill>
            <a:prstDash val="solid"/>
          </a:ln>
        </p:spPr>
      </p:sp>
      <p:sp>
        <p:nvSpPr>
          <p:cNvPr id="20" name="Shape 18"/>
          <p:cNvSpPr/>
          <p:nvPr/>
        </p:nvSpPr>
        <p:spPr>
          <a:xfrm>
            <a:off x="749808" y="4315968"/>
            <a:ext cx="457200" cy="457200"/>
          </a:xfrm>
          <a:prstGeom prst="roundRect">
            <a:avLst>
              <a:gd name="adj" fmla="val 50000"/>
            </a:avLst>
          </a:prstGeom>
          <a:solidFill>
            <a:srgbClr val="E8A33D"/>
          </a:solidFill>
          <a:ln/>
        </p:spPr>
      </p:sp>
      <p:sp>
        <p:nvSpPr>
          <p:cNvPr id="21" name="Text 19"/>
          <p:cNvSpPr/>
          <p:nvPr/>
        </p:nvSpPr>
        <p:spPr>
          <a:xfrm>
            <a:off x="749808" y="4315968"/>
            <a:ext cx="457200" cy="457200"/>
          </a:xfrm>
          <a:prstGeom prst="rect">
            <a:avLst/>
          </a:prstGeom>
          <a:noFill/>
          <a:ln/>
        </p:spPr>
        <p:txBody>
          <a:bodyPr wrap="square" rtlCol="0" anchor="ctr"/>
          <a:lstStyle/>
          <a:p>
            <a:pPr algn="ctr" indent="0" marL="0">
              <a:buNone/>
            </a:pPr>
            <a:r>
              <a:rPr lang="en-US" sz="1300" b="1" dirty="0">
                <a:solidFill>
                  <a:srgbClr val="141B4D"/>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49808" y="4892040"/>
            <a:ext cx="3209544" cy="502920"/>
          </a:xfrm>
          <a:prstGeom prst="rect">
            <a:avLst/>
          </a:prstGeom>
          <a:noFill/>
          <a:ln/>
        </p:spPr>
        <p:txBody>
          <a:bodyPr wrap="square" rtlCol="0" anchor="ctr"/>
          <a:lstStyle/>
          <a:p>
            <a:pPr indent="0" marL="0">
              <a:lnSpc>
                <a:spcPts val="1400"/>
              </a:lnSpc>
              <a:buNone/>
            </a:pPr>
            <a:r>
              <a:rPr lang="en-US" sz="1250" b="1" dirty="0">
                <a:solidFill>
                  <a:srgbClr val="1E2761"/>
                </a:solidFill>
                <a:latin typeface="Cambria" pitchFamily="34" charset="0"/>
                <a:ea typeface="Cambria" pitchFamily="34" charset="-122"/>
                <a:cs typeface="Cambria" pitchFamily="34" charset="-120"/>
              </a:rPr>
              <a:t>Gouvernance &amp; conformité</a:t>
            </a:r>
            <a:endParaRPr lang="en-US" sz="1250" dirty="0"/>
          </a:p>
        </p:txBody>
      </p:sp>
      <p:sp>
        <p:nvSpPr>
          <p:cNvPr id="23" name="Text 21"/>
          <p:cNvSpPr/>
          <p:nvPr/>
        </p:nvSpPr>
        <p:spPr>
          <a:xfrm>
            <a:off x="749808" y="5440680"/>
            <a:ext cx="3209544" cy="777240"/>
          </a:xfrm>
          <a:prstGeom prst="rect">
            <a:avLst/>
          </a:prstGeom>
          <a:noFill/>
          <a:ln/>
        </p:spPr>
        <p:txBody>
          <a:bodyPr wrap="square" rtlCol="0" anchor="ctr"/>
          <a:lstStyle/>
          <a:p>
            <a:pPr indent="0" marL="0">
              <a:lnSpc>
                <a:spcPts val="1300"/>
              </a:lnSpc>
              <a:buNone/>
            </a:pPr>
            <a:r>
              <a:rPr lang="en-US" sz="1000" dirty="0">
                <a:solidFill>
                  <a:srgbClr val="5B6472"/>
                </a:solidFill>
                <a:latin typeface="Calibri" pitchFamily="34" charset="0"/>
                <a:ea typeface="Calibri" pitchFamily="34" charset="-122"/>
                <a:cs typeface="Calibri" pitchFamily="34" charset="-120"/>
              </a:rPr>
              <a:t>Accès, coûts et usages centralisés et auditables via Agent Hub.</a:t>
            </a:r>
            <a:endParaRPr lang="en-US" sz="1000" dirty="0"/>
          </a:p>
        </p:txBody>
      </p:sp>
      <p:sp>
        <p:nvSpPr>
          <p:cNvPr id="24" name="Shape 22"/>
          <p:cNvSpPr/>
          <p:nvPr/>
        </p:nvSpPr>
        <p:spPr>
          <a:xfrm>
            <a:off x="4379976" y="4114800"/>
            <a:ext cx="3611880" cy="2148840"/>
          </a:xfrm>
          <a:prstGeom prst="roundRect">
            <a:avLst>
              <a:gd name="adj" fmla="val 4255"/>
            </a:avLst>
          </a:prstGeom>
          <a:solidFill>
            <a:srgbClr val="F5F7FC"/>
          </a:solidFill>
          <a:ln w="12700">
            <a:solidFill>
              <a:srgbClr val="E3E7F3"/>
            </a:solidFill>
            <a:prstDash val="solid"/>
          </a:ln>
        </p:spPr>
      </p:sp>
      <p:sp>
        <p:nvSpPr>
          <p:cNvPr id="25" name="Shape 23"/>
          <p:cNvSpPr/>
          <p:nvPr/>
        </p:nvSpPr>
        <p:spPr>
          <a:xfrm>
            <a:off x="4581144" y="4315968"/>
            <a:ext cx="457200" cy="457200"/>
          </a:xfrm>
          <a:prstGeom prst="roundRect">
            <a:avLst>
              <a:gd name="adj" fmla="val 50000"/>
            </a:avLst>
          </a:prstGeom>
          <a:solidFill>
            <a:srgbClr val="E8A33D"/>
          </a:solidFill>
          <a:ln/>
        </p:spPr>
      </p:sp>
      <p:sp>
        <p:nvSpPr>
          <p:cNvPr id="26" name="Text 24"/>
          <p:cNvSpPr/>
          <p:nvPr/>
        </p:nvSpPr>
        <p:spPr>
          <a:xfrm>
            <a:off x="4581144" y="4315968"/>
            <a:ext cx="457200" cy="457200"/>
          </a:xfrm>
          <a:prstGeom prst="rect">
            <a:avLst/>
          </a:prstGeom>
          <a:noFill/>
          <a:ln/>
        </p:spPr>
        <p:txBody>
          <a:bodyPr wrap="square" rtlCol="0" anchor="ctr"/>
          <a:lstStyle/>
          <a:p>
            <a:pPr algn="ctr" indent="0" marL="0">
              <a:buNone/>
            </a:pPr>
            <a:r>
              <a:rPr lang="en-US" sz="1300" b="1" dirty="0">
                <a:solidFill>
                  <a:srgbClr val="141B4D"/>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4581144" y="4892040"/>
            <a:ext cx="3209544" cy="502920"/>
          </a:xfrm>
          <a:prstGeom prst="rect">
            <a:avLst/>
          </a:prstGeom>
          <a:noFill/>
          <a:ln/>
        </p:spPr>
        <p:txBody>
          <a:bodyPr wrap="square" rtlCol="0" anchor="ctr"/>
          <a:lstStyle/>
          <a:p>
            <a:pPr indent="0" marL="0">
              <a:lnSpc>
                <a:spcPts val="1400"/>
              </a:lnSpc>
              <a:buNone/>
            </a:pPr>
            <a:r>
              <a:rPr lang="en-US" sz="1250" b="1" dirty="0">
                <a:solidFill>
                  <a:srgbClr val="1E2761"/>
                </a:solidFill>
                <a:latin typeface="Cambria" pitchFamily="34" charset="0"/>
                <a:ea typeface="Cambria" pitchFamily="34" charset="-122"/>
                <a:cs typeface="Cambria" pitchFamily="34" charset="-120"/>
              </a:rPr>
              <a:t>Capitalisation</a:t>
            </a:r>
            <a:endParaRPr lang="en-US" sz="1250" dirty="0"/>
          </a:p>
        </p:txBody>
      </p:sp>
      <p:sp>
        <p:nvSpPr>
          <p:cNvPr id="28" name="Text 26"/>
          <p:cNvSpPr/>
          <p:nvPr/>
        </p:nvSpPr>
        <p:spPr>
          <a:xfrm>
            <a:off x="4581144" y="5440680"/>
            <a:ext cx="3209544" cy="777240"/>
          </a:xfrm>
          <a:prstGeom prst="rect">
            <a:avLst/>
          </a:prstGeom>
          <a:noFill/>
          <a:ln/>
        </p:spPr>
        <p:txBody>
          <a:bodyPr wrap="square" rtlCol="0" anchor="ctr"/>
          <a:lstStyle/>
          <a:p>
            <a:pPr indent="0" marL="0">
              <a:lnSpc>
                <a:spcPts val="1300"/>
              </a:lnSpc>
              <a:buNone/>
            </a:pPr>
            <a:r>
              <a:rPr lang="en-US" sz="1000" dirty="0">
                <a:solidFill>
                  <a:srgbClr val="5B6472"/>
                </a:solidFill>
                <a:latin typeface="Calibri" pitchFamily="34" charset="0"/>
                <a:ea typeface="Calibri" pitchFamily="34" charset="-122"/>
                <a:cs typeface="Calibri" pitchFamily="34" charset="-120"/>
              </a:rPr>
              <a:t>Chaque agent devient un actif réutilisable, partagé entre les 4 processus.</a:t>
            </a:r>
            <a:endParaRPr lang="en-US" sz="1000" dirty="0"/>
          </a:p>
        </p:txBody>
      </p:sp>
      <p:sp>
        <p:nvSpPr>
          <p:cNvPr id="29" name="Shape 27"/>
          <p:cNvSpPr/>
          <p:nvPr/>
        </p:nvSpPr>
        <p:spPr>
          <a:xfrm>
            <a:off x="8211312" y="4114800"/>
            <a:ext cx="3611880" cy="2148840"/>
          </a:xfrm>
          <a:prstGeom prst="roundRect">
            <a:avLst>
              <a:gd name="adj" fmla="val 4255"/>
            </a:avLst>
          </a:prstGeom>
          <a:solidFill>
            <a:srgbClr val="F5F7FC"/>
          </a:solidFill>
          <a:ln w="12700">
            <a:solidFill>
              <a:srgbClr val="E3E7F3"/>
            </a:solidFill>
            <a:prstDash val="solid"/>
          </a:ln>
        </p:spPr>
      </p:sp>
      <p:sp>
        <p:nvSpPr>
          <p:cNvPr id="30" name="Shape 28"/>
          <p:cNvSpPr/>
          <p:nvPr/>
        </p:nvSpPr>
        <p:spPr>
          <a:xfrm>
            <a:off x="8412480" y="4315968"/>
            <a:ext cx="457200" cy="457200"/>
          </a:xfrm>
          <a:prstGeom prst="roundRect">
            <a:avLst>
              <a:gd name="adj" fmla="val 50000"/>
            </a:avLst>
          </a:prstGeom>
          <a:solidFill>
            <a:srgbClr val="E8A33D"/>
          </a:solidFill>
          <a:ln/>
        </p:spPr>
      </p:sp>
      <p:sp>
        <p:nvSpPr>
          <p:cNvPr id="31" name="Text 29"/>
          <p:cNvSpPr/>
          <p:nvPr/>
        </p:nvSpPr>
        <p:spPr>
          <a:xfrm>
            <a:off x="8412480" y="4315968"/>
            <a:ext cx="457200" cy="457200"/>
          </a:xfrm>
          <a:prstGeom prst="rect">
            <a:avLst/>
          </a:prstGeom>
          <a:noFill/>
          <a:ln/>
        </p:spPr>
        <p:txBody>
          <a:bodyPr wrap="square" rtlCol="0" anchor="ctr"/>
          <a:lstStyle/>
          <a:p>
            <a:pPr algn="ctr" indent="0" marL="0">
              <a:buNone/>
            </a:pPr>
            <a:r>
              <a:rPr lang="en-US" sz="1300" b="1" dirty="0">
                <a:solidFill>
                  <a:srgbClr val="141B4D"/>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8412480" y="4892040"/>
            <a:ext cx="3209544" cy="502920"/>
          </a:xfrm>
          <a:prstGeom prst="rect">
            <a:avLst/>
          </a:prstGeom>
          <a:noFill/>
          <a:ln/>
        </p:spPr>
        <p:txBody>
          <a:bodyPr wrap="square" rtlCol="0" anchor="ctr"/>
          <a:lstStyle/>
          <a:p>
            <a:pPr indent="0" marL="0">
              <a:lnSpc>
                <a:spcPts val="1400"/>
              </a:lnSpc>
              <a:buNone/>
            </a:pPr>
            <a:r>
              <a:rPr lang="en-US" sz="1250" b="1" dirty="0">
                <a:solidFill>
                  <a:srgbClr val="1E2761"/>
                </a:solidFill>
                <a:latin typeface="Cambria" pitchFamily="34" charset="0"/>
                <a:ea typeface="Cambria" pitchFamily="34" charset="-122"/>
                <a:cs typeface="Cambria" pitchFamily="34" charset="-120"/>
              </a:rPr>
              <a:t>ROI mesurable</a:t>
            </a:r>
            <a:endParaRPr lang="en-US" sz="1250" dirty="0"/>
          </a:p>
        </p:txBody>
      </p:sp>
      <p:sp>
        <p:nvSpPr>
          <p:cNvPr id="33" name="Text 31"/>
          <p:cNvSpPr/>
          <p:nvPr/>
        </p:nvSpPr>
        <p:spPr>
          <a:xfrm>
            <a:off x="8412480" y="5440680"/>
            <a:ext cx="3209544" cy="777240"/>
          </a:xfrm>
          <a:prstGeom prst="rect">
            <a:avLst/>
          </a:prstGeom>
          <a:noFill/>
          <a:ln/>
        </p:spPr>
        <p:txBody>
          <a:bodyPr wrap="square" rtlCol="0" anchor="ctr"/>
          <a:lstStyle/>
          <a:p>
            <a:pPr indent="0" marL="0">
              <a:lnSpc>
                <a:spcPts val="1300"/>
              </a:lnSpc>
              <a:buNone/>
            </a:pPr>
            <a:r>
              <a:rPr lang="en-US" sz="1000" dirty="0">
                <a:solidFill>
                  <a:srgbClr val="5B6472"/>
                </a:solidFill>
                <a:latin typeface="Calibri" pitchFamily="34" charset="0"/>
                <a:ea typeface="Calibri" pitchFamily="34" charset="-122"/>
                <a:cs typeface="Calibri" pitchFamily="34" charset="-120"/>
              </a:rPr>
              <a:t>Visibilité sur l'adoption et l'impact réel de chaque agent.</a:t>
            </a:r>
            <a:endParaRPr lang="en-US" sz="1000" dirty="0"/>
          </a:p>
        </p:txBody>
      </p:sp>
      <p:sp>
        <p:nvSpPr>
          <p:cNvPr id="34" name="Text 32"/>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AA2B6"/>
                </a:solidFill>
                <a:latin typeface="Calibri" pitchFamily="34" charset="0"/>
                <a:ea typeface="Calibri" pitchFamily="34" charset="-122"/>
                <a:cs typeface="Calibri" pitchFamily="34" charset="-120"/>
              </a:rPr>
              <a:t>Équipe Service Management · Agents IA Dataiku</a:t>
            </a:r>
            <a:endParaRPr lang="en-US" sz="900" dirty="0"/>
          </a:p>
        </p:txBody>
      </p:sp>
      <p:sp>
        <p:nvSpPr>
          <p:cNvPr id="35" name="Text 3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9AA2B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01200" y="-2286000"/>
            <a:ext cx="5486400" cy="5486400"/>
          </a:xfrm>
          <a:prstGeom prst="ellipse">
            <a:avLst/>
          </a:prstGeom>
          <a:solidFill>
            <a:srgbClr val="141B4D"/>
          </a:solidFill>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PROCHAINES ÉTAPES</a:t>
            </a:r>
            <a:endParaRPr lang="en-US" sz="1200" dirty="0"/>
          </a:p>
        </p:txBody>
      </p:sp>
      <p:sp>
        <p:nvSpPr>
          <p:cNvPr id="4" name="Text 2"/>
          <p:cNvSpPr/>
          <p:nvPr/>
        </p:nvSpPr>
        <p:spPr>
          <a:xfrm>
            <a:off x="548640" y="749808"/>
            <a:ext cx="91440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Notre feuille de route</a:t>
            </a:r>
            <a:endParaRPr lang="en-US" sz="2800" dirty="0"/>
          </a:p>
        </p:txBody>
      </p:sp>
      <p:sp>
        <p:nvSpPr>
          <p:cNvPr id="5" name="Shape 3"/>
          <p:cNvSpPr/>
          <p:nvPr/>
        </p:nvSpPr>
        <p:spPr>
          <a:xfrm>
            <a:off x="1417320" y="2194560"/>
            <a:ext cx="0" cy="3456432"/>
          </a:xfrm>
          <a:prstGeom prst="line">
            <a:avLst/>
          </a:prstGeom>
          <a:noFill/>
          <a:ln w="25400">
            <a:solidFill>
              <a:srgbClr val="3A4380"/>
            </a:solidFill>
            <a:prstDash val="solid"/>
          </a:ln>
        </p:spPr>
      </p:sp>
      <p:sp>
        <p:nvSpPr>
          <p:cNvPr id="6" name="Shape 4"/>
          <p:cNvSpPr/>
          <p:nvPr/>
        </p:nvSpPr>
        <p:spPr>
          <a:xfrm>
            <a:off x="1051560" y="1965960"/>
            <a:ext cx="731520" cy="731520"/>
          </a:xfrm>
          <a:prstGeom prst="ellipse">
            <a:avLst/>
          </a:prstGeom>
          <a:solidFill>
            <a:srgbClr val="E8A33D"/>
          </a:solidFill>
          <a:ln/>
        </p:spPr>
      </p:sp>
      <p:sp>
        <p:nvSpPr>
          <p:cNvPr id="7" name="Text 5"/>
          <p:cNvSpPr/>
          <p:nvPr/>
        </p:nvSpPr>
        <p:spPr>
          <a:xfrm>
            <a:off x="1051560" y="1965960"/>
            <a:ext cx="731520" cy="731520"/>
          </a:xfrm>
          <a:prstGeom prst="rect">
            <a:avLst/>
          </a:prstGeom>
          <a:noFill/>
          <a:ln/>
        </p:spPr>
        <p:txBody>
          <a:bodyPr wrap="square" lIns="0" tIns="0" rIns="0" bIns="0" rtlCol="0" anchor="ctr"/>
          <a:lstStyle/>
          <a:p>
            <a:pPr algn="ctr" indent="0" marL="0">
              <a:buNone/>
            </a:pPr>
            <a:r>
              <a:rPr lang="en-US" sz="1500" b="1" dirty="0">
                <a:solidFill>
                  <a:srgbClr val="141B4D"/>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2148840" y="1920240"/>
            <a:ext cx="3657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 Incidents</a:t>
            </a:r>
            <a:endParaRPr lang="en-US" sz="1400" dirty="0"/>
          </a:p>
        </p:txBody>
      </p:sp>
      <p:sp>
        <p:nvSpPr>
          <p:cNvPr id="9" name="Text 7"/>
          <p:cNvSpPr/>
          <p:nvPr/>
        </p:nvSpPr>
        <p:spPr>
          <a:xfrm>
            <a:off x="5806440" y="1947672"/>
            <a:ext cx="5669280" cy="548640"/>
          </a:xfrm>
          <a:prstGeom prst="rect">
            <a:avLst/>
          </a:prstGeom>
          <a:noFill/>
          <a:ln/>
        </p:spPr>
        <p:txBody>
          <a:bodyPr wrap="square" rtlCol="0" anchor="ctr"/>
          <a:lstStyle/>
          <a:p>
            <a:pPr indent="0" marL="0">
              <a:lnSpc>
                <a:spcPts val="1400"/>
              </a:lnSpc>
              <a:buNone/>
            </a:pPr>
            <a:r>
              <a:rPr lang="en-US" sz="1150" dirty="0">
                <a:solidFill>
                  <a:srgbClr val="C7CEEA"/>
                </a:solidFill>
                <a:latin typeface="Calibri" pitchFamily="34" charset="0"/>
                <a:ea typeface="Calibri" pitchFamily="34" charset="-122"/>
                <a:cs typeface="Calibri" pitchFamily="34" charset="-120"/>
              </a:rPr>
              <a:t>Livré : recherche des changements corrélés à un incident.</a:t>
            </a:r>
            <a:endParaRPr lang="en-US" sz="1150" dirty="0"/>
          </a:p>
        </p:txBody>
      </p:sp>
      <p:sp>
        <p:nvSpPr>
          <p:cNvPr id="10" name="Shape 8"/>
          <p:cNvSpPr/>
          <p:nvPr/>
        </p:nvSpPr>
        <p:spPr>
          <a:xfrm>
            <a:off x="2148840" y="2286000"/>
            <a:ext cx="914400" cy="310896"/>
          </a:xfrm>
          <a:prstGeom prst="roundRect">
            <a:avLst>
              <a:gd name="adj" fmla="val 50000"/>
            </a:avLst>
          </a:prstGeom>
          <a:solidFill>
            <a:srgbClr val="E8A33D"/>
          </a:solidFill>
          <a:ln/>
        </p:spPr>
      </p:sp>
      <p:sp>
        <p:nvSpPr>
          <p:cNvPr id="11" name="Text 9"/>
          <p:cNvSpPr/>
          <p:nvPr/>
        </p:nvSpPr>
        <p:spPr>
          <a:xfrm>
            <a:off x="2148840" y="2286000"/>
            <a:ext cx="914400" cy="310896"/>
          </a:xfrm>
          <a:prstGeom prst="rect">
            <a:avLst/>
          </a:prstGeom>
          <a:noFill/>
          <a:ln/>
        </p:spPr>
        <p:txBody>
          <a:bodyPr wrap="square" lIns="0" tIns="0" rIns="0" bIns="0" rtlCol="0" anchor="ctr"/>
          <a:lstStyle/>
          <a:p>
            <a:pPr algn="ctr" indent="0" marL="0">
              <a:buNone/>
            </a:pPr>
            <a:r>
              <a:rPr lang="en-US" sz="1050" b="1" dirty="0">
                <a:solidFill>
                  <a:srgbClr val="141B4D"/>
                </a:solidFill>
                <a:latin typeface="Calibri" pitchFamily="34" charset="0"/>
                <a:ea typeface="Calibri" pitchFamily="34" charset="-122"/>
                <a:cs typeface="Calibri" pitchFamily="34" charset="-120"/>
              </a:rPr>
              <a:t>FAIT</a:t>
            </a:r>
            <a:endParaRPr lang="en-US" sz="1050" dirty="0"/>
          </a:p>
        </p:txBody>
      </p:sp>
      <p:sp>
        <p:nvSpPr>
          <p:cNvPr id="12" name="Shape 10"/>
          <p:cNvSpPr/>
          <p:nvPr/>
        </p:nvSpPr>
        <p:spPr>
          <a:xfrm>
            <a:off x="1051560" y="2807208"/>
            <a:ext cx="731520" cy="731520"/>
          </a:xfrm>
          <a:prstGeom prst="ellipse">
            <a:avLst/>
          </a:prstGeom>
          <a:solidFill>
            <a:srgbClr val="2A3470"/>
          </a:solidFill>
          <a:ln/>
        </p:spPr>
      </p:sp>
      <p:sp>
        <p:nvSpPr>
          <p:cNvPr id="13" name="Text 11"/>
          <p:cNvSpPr/>
          <p:nvPr/>
        </p:nvSpPr>
        <p:spPr>
          <a:xfrm>
            <a:off x="1051560" y="2807208"/>
            <a:ext cx="731520" cy="731520"/>
          </a:xfrm>
          <a:prstGeom prst="rect">
            <a:avLst/>
          </a:prstGeom>
          <a:noFill/>
          <a:ln/>
        </p:spPr>
        <p:txBody>
          <a:bodyPr wrap="square" lIns="0" tIns="0" rIns="0" bIns="0"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02</a:t>
            </a:r>
            <a:endParaRPr lang="en-US" sz="1500" dirty="0"/>
          </a:p>
        </p:txBody>
      </p:sp>
      <p:sp>
        <p:nvSpPr>
          <p:cNvPr id="14" name="Text 12"/>
          <p:cNvSpPr/>
          <p:nvPr/>
        </p:nvSpPr>
        <p:spPr>
          <a:xfrm>
            <a:off x="2148840" y="2761488"/>
            <a:ext cx="3657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 Changements</a:t>
            </a:r>
            <a:endParaRPr lang="en-US" sz="1400" dirty="0"/>
          </a:p>
        </p:txBody>
      </p:sp>
      <p:sp>
        <p:nvSpPr>
          <p:cNvPr id="15" name="Text 13"/>
          <p:cNvSpPr/>
          <p:nvPr/>
        </p:nvSpPr>
        <p:spPr>
          <a:xfrm>
            <a:off x="5806440" y="2788920"/>
            <a:ext cx="5669280" cy="548640"/>
          </a:xfrm>
          <a:prstGeom prst="rect">
            <a:avLst/>
          </a:prstGeom>
          <a:noFill/>
          <a:ln/>
        </p:spPr>
        <p:txBody>
          <a:bodyPr wrap="square" rtlCol="0" anchor="ctr"/>
          <a:lstStyle/>
          <a:p>
            <a:pPr indent="0" marL="0">
              <a:lnSpc>
                <a:spcPts val="1400"/>
              </a:lnSpc>
              <a:buNone/>
            </a:pPr>
            <a:r>
              <a:rPr lang="en-US" sz="1150" dirty="0">
                <a:solidFill>
                  <a:srgbClr val="C7CEEA"/>
                </a:solidFill>
                <a:latin typeface="Calibri" pitchFamily="34" charset="0"/>
                <a:ea typeface="Calibri" pitchFamily="34" charset="-122"/>
                <a:cs typeface="Calibri" pitchFamily="34" charset="-120"/>
              </a:rPr>
              <a:t>Évaluation d'impact et détection de conflits de planning.</a:t>
            </a:r>
            <a:endParaRPr lang="en-US" sz="1150" dirty="0"/>
          </a:p>
        </p:txBody>
      </p:sp>
      <p:sp>
        <p:nvSpPr>
          <p:cNvPr id="16" name="Shape 14"/>
          <p:cNvSpPr/>
          <p:nvPr/>
        </p:nvSpPr>
        <p:spPr>
          <a:xfrm>
            <a:off x="1051560" y="3648456"/>
            <a:ext cx="731520" cy="731520"/>
          </a:xfrm>
          <a:prstGeom prst="ellipse">
            <a:avLst/>
          </a:prstGeom>
          <a:solidFill>
            <a:srgbClr val="2A3470"/>
          </a:solidFill>
          <a:ln/>
        </p:spPr>
      </p:sp>
      <p:sp>
        <p:nvSpPr>
          <p:cNvPr id="17" name="Text 15"/>
          <p:cNvSpPr/>
          <p:nvPr/>
        </p:nvSpPr>
        <p:spPr>
          <a:xfrm>
            <a:off x="1051560" y="3648456"/>
            <a:ext cx="731520" cy="731520"/>
          </a:xfrm>
          <a:prstGeom prst="rect">
            <a:avLst/>
          </a:prstGeom>
          <a:noFill/>
          <a:ln/>
        </p:spPr>
        <p:txBody>
          <a:bodyPr wrap="square" lIns="0" tIns="0" rIns="0" bIns="0"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03</a:t>
            </a:r>
            <a:endParaRPr lang="en-US" sz="1500" dirty="0"/>
          </a:p>
        </p:txBody>
      </p:sp>
      <p:sp>
        <p:nvSpPr>
          <p:cNvPr id="18" name="Text 16"/>
          <p:cNvSpPr/>
          <p:nvPr/>
        </p:nvSpPr>
        <p:spPr>
          <a:xfrm>
            <a:off x="2148840" y="3602736"/>
            <a:ext cx="3657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 Problèmes</a:t>
            </a:r>
            <a:endParaRPr lang="en-US" sz="1400" dirty="0"/>
          </a:p>
        </p:txBody>
      </p:sp>
      <p:sp>
        <p:nvSpPr>
          <p:cNvPr id="19" name="Text 17"/>
          <p:cNvSpPr/>
          <p:nvPr/>
        </p:nvSpPr>
        <p:spPr>
          <a:xfrm>
            <a:off x="5806440" y="3630168"/>
            <a:ext cx="5669280" cy="548640"/>
          </a:xfrm>
          <a:prstGeom prst="rect">
            <a:avLst/>
          </a:prstGeom>
          <a:noFill/>
          <a:ln/>
        </p:spPr>
        <p:txBody>
          <a:bodyPr wrap="square" rtlCol="0" anchor="ctr"/>
          <a:lstStyle/>
          <a:p>
            <a:pPr indent="0" marL="0">
              <a:lnSpc>
                <a:spcPts val="1400"/>
              </a:lnSpc>
              <a:buNone/>
            </a:pPr>
            <a:r>
              <a:rPr lang="en-US" sz="1150" dirty="0">
                <a:solidFill>
                  <a:srgbClr val="C7CEEA"/>
                </a:solidFill>
                <a:latin typeface="Calibri" pitchFamily="34" charset="0"/>
                <a:ea typeface="Calibri" pitchFamily="34" charset="-122"/>
                <a:cs typeface="Calibri" pitchFamily="34" charset="-120"/>
              </a:rPr>
              <a:t>Regroupement d'incidents et analyse de causes racines.</a:t>
            </a:r>
            <a:endParaRPr lang="en-US" sz="1150" dirty="0"/>
          </a:p>
        </p:txBody>
      </p:sp>
      <p:sp>
        <p:nvSpPr>
          <p:cNvPr id="20" name="Shape 18"/>
          <p:cNvSpPr/>
          <p:nvPr/>
        </p:nvSpPr>
        <p:spPr>
          <a:xfrm>
            <a:off x="1051560" y="4489704"/>
            <a:ext cx="731520" cy="731520"/>
          </a:xfrm>
          <a:prstGeom prst="ellipse">
            <a:avLst/>
          </a:prstGeom>
          <a:solidFill>
            <a:srgbClr val="2A3470"/>
          </a:solidFill>
          <a:ln/>
        </p:spPr>
      </p:sp>
      <p:sp>
        <p:nvSpPr>
          <p:cNvPr id="21" name="Text 19"/>
          <p:cNvSpPr/>
          <p:nvPr/>
        </p:nvSpPr>
        <p:spPr>
          <a:xfrm>
            <a:off x="1051560" y="4489704"/>
            <a:ext cx="731520" cy="731520"/>
          </a:xfrm>
          <a:prstGeom prst="rect">
            <a:avLst/>
          </a:prstGeom>
          <a:noFill/>
          <a:ln/>
        </p:spPr>
        <p:txBody>
          <a:bodyPr wrap="square" lIns="0" tIns="0" rIns="0" bIns="0"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04</a:t>
            </a:r>
            <a:endParaRPr lang="en-US" sz="1500" dirty="0"/>
          </a:p>
        </p:txBody>
      </p:sp>
      <p:sp>
        <p:nvSpPr>
          <p:cNvPr id="22" name="Text 20"/>
          <p:cNvSpPr/>
          <p:nvPr/>
        </p:nvSpPr>
        <p:spPr>
          <a:xfrm>
            <a:off x="2148840" y="4443984"/>
            <a:ext cx="3657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 QoS</a:t>
            </a:r>
            <a:endParaRPr lang="en-US" sz="1400" dirty="0"/>
          </a:p>
        </p:txBody>
      </p:sp>
      <p:sp>
        <p:nvSpPr>
          <p:cNvPr id="23" name="Text 21"/>
          <p:cNvSpPr/>
          <p:nvPr/>
        </p:nvSpPr>
        <p:spPr>
          <a:xfrm>
            <a:off x="5806440" y="4471416"/>
            <a:ext cx="5669280" cy="548640"/>
          </a:xfrm>
          <a:prstGeom prst="rect">
            <a:avLst/>
          </a:prstGeom>
          <a:noFill/>
          <a:ln/>
        </p:spPr>
        <p:txBody>
          <a:bodyPr wrap="square" rtlCol="0" anchor="ctr"/>
          <a:lstStyle/>
          <a:p>
            <a:pPr indent="0" marL="0">
              <a:lnSpc>
                <a:spcPts val="1400"/>
              </a:lnSpc>
              <a:buNone/>
            </a:pPr>
            <a:r>
              <a:rPr lang="en-US" sz="1150" dirty="0">
                <a:solidFill>
                  <a:srgbClr val="C7CEEA"/>
                </a:solidFill>
                <a:latin typeface="Calibri" pitchFamily="34" charset="0"/>
                <a:ea typeface="Calibri" pitchFamily="34" charset="-122"/>
                <a:cs typeface="Calibri" pitchFamily="34" charset="-120"/>
              </a:rPr>
              <a:t>Suivi des SLA et alerte automatique en cas de dérive.</a:t>
            </a:r>
            <a:endParaRPr lang="en-US" sz="1150" dirty="0"/>
          </a:p>
        </p:txBody>
      </p:sp>
      <p:sp>
        <p:nvSpPr>
          <p:cNvPr id="24" name="Shape 22"/>
          <p:cNvSpPr/>
          <p:nvPr/>
        </p:nvSpPr>
        <p:spPr>
          <a:xfrm>
            <a:off x="1051560" y="5330952"/>
            <a:ext cx="731520" cy="731520"/>
          </a:xfrm>
          <a:prstGeom prst="ellipse">
            <a:avLst/>
          </a:prstGeom>
          <a:solidFill>
            <a:srgbClr val="2A3470"/>
          </a:solidFill>
          <a:ln/>
        </p:spPr>
      </p:sp>
      <p:sp>
        <p:nvSpPr>
          <p:cNvPr id="25" name="Text 23"/>
          <p:cNvSpPr/>
          <p:nvPr/>
        </p:nvSpPr>
        <p:spPr>
          <a:xfrm>
            <a:off x="1051560" y="5330952"/>
            <a:ext cx="731520" cy="731520"/>
          </a:xfrm>
          <a:prstGeom prst="rect">
            <a:avLst/>
          </a:prstGeom>
          <a:noFill/>
          <a:ln/>
        </p:spPr>
        <p:txBody>
          <a:bodyPr wrap="square" lIns="0" tIns="0" rIns="0" bIns="0"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05</a:t>
            </a:r>
            <a:endParaRPr lang="en-US" sz="1500" dirty="0"/>
          </a:p>
        </p:txBody>
      </p:sp>
      <p:sp>
        <p:nvSpPr>
          <p:cNvPr id="26" name="Text 24"/>
          <p:cNvSpPr/>
          <p:nvPr/>
        </p:nvSpPr>
        <p:spPr>
          <a:xfrm>
            <a:off x="2148840" y="5285232"/>
            <a:ext cx="3657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Publication dans Agent Hub</a:t>
            </a:r>
            <a:endParaRPr lang="en-US" sz="1400" dirty="0"/>
          </a:p>
        </p:txBody>
      </p:sp>
      <p:sp>
        <p:nvSpPr>
          <p:cNvPr id="27" name="Text 25"/>
          <p:cNvSpPr/>
          <p:nvPr/>
        </p:nvSpPr>
        <p:spPr>
          <a:xfrm>
            <a:off x="5806440" y="5312664"/>
            <a:ext cx="5669280" cy="548640"/>
          </a:xfrm>
          <a:prstGeom prst="rect">
            <a:avLst/>
          </a:prstGeom>
          <a:noFill/>
          <a:ln/>
        </p:spPr>
        <p:txBody>
          <a:bodyPr wrap="square" rtlCol="0" anchor="ctr"/>
          <a:lstStyle/>
          <a:p>
            <a:pPr indent="0" marL="0">
              <a:lnSpc>
                <a:spcPts val="1400"/>
              </a:lnSpc>
              <a:buNone/>
            </a:pPr>
            <a:r>
              <a:rPr lang="en-US" sz="1150" dirty="0">
                <a:solidFill>
                  <a:srgbClr val="C7CEEA"/>
                </a:solidFill>
                <a:latin typeface="Calibri" pitchFamily="34" charset="0"/>
                <a:ea typeface="Calibri" pitchFamily="34" charset="-122"/>
                <a:cs typeface="Calibri" pitchFamily="34" charset="-120"/>
              </a:rPr>
              <a:t>Bibliothèque commune, gouvernance IT, orchestration multi-agents.</a:t>
            </a:r>
            <a:endParaRPr lang="en-US" sz="1150" dirty="0"/>
          </a:p>
        </p:txBody>
      </p:sp>
      <p:sp>
        <p:nvSpPr>
          <p:cNvPr id="28" name="Text 26"/>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8892C4"/>
                </a:solidFill>
                <a:latin typeface="Calibri" pitchFamily="34" charset="0"/>
                <a:ea typeface="Calibri" pitchFamily="34" charset="-122"/>
                <a:cs typeface="Calibri" pitchFamily="34" charset="-120"/>
              </a:rPr>
              <a:t>Équipe Service Management · Agents IA Dataiku</a:t>
            </a:r>
            <a:endParaRPr lang="en-US" sz="900" dirty="0"/>
          </a:p>
        </p:txBody>
      </p:sp>
      <p:sp>
        <p:nvSpPr>
          <p:cNvPr id="29" name="Text 2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892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2026-09-18T13:34:19Z</dcterms:created>
  <dcterms:modified xsi:type="dcterms:W3CDTF">2026-09-18T13:34:19Z</dcterms:modified>
</cp:coreProperties>
</file>