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Plus Jakarta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-bold.fntdata"/><Relationship Id="rId11" Type="http://schemas.openxmlformats.org/officeDocument/2006/relationships/slide" Target="slides/slide6.xml"/><Relationship Id="rId22" Type="http://schemas.openxmlformats.org/officeDocument/2006/relationships/font" Target="fonts/PlusJakartaSans-boldItalic.fntdata"/><Relationship Id="rId10" Type="http://schemas.openxmlformats.org/officeDocument/2006/relationships/slide" Target="slides/slide5.xml"/><Relationship Id="rId21" Type="http://schemas.openxmlformats.org/officeDocument/2006/relationships/font" Target="fonts/PlusJakarta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lusJakartaSans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17.png"/><Relationship Id="rId8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10" Type="http://schemas.openxmlformats.org/officeDocument/2006/relationships/image" Target="../media/image23.png"/><Relationship Id="rId9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5.png"/><Relationship Id="rId7" Type="http://schemas.openxmlformats.org/officeDocument/2006/relationships/image" Target="../media/image3.png"/><Relationship Id="rId8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18.png"/><Relationship Id="rId6" Type="http://schemas.openxmlformats.org/officeDocument/2006/relationships/image" Target="../media/image22.png"/><Relationship Id="rId7" Type="http://schemas.openxmlformats.org/officeDocument/2006/relationships/image" Target="../media/image15.png"/><Relationship Id="rId8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762000" y="4473773"/>
            <a:ext cx="457200" cy="381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762000" y="227454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SERVICE MANAGEMENT &amp; INTELLIGENCE ARTIFICIELLE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62000" y="2636490"/>
            <a:ext cx="11251406" cy="569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Dataiku Agent Hub &amp; ITSM Moderne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3434655"/>
            <a:ext cx="73342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Accélérer la résolution des incidents, fiabiliser les changements et garantir la qualité de service grâce aux agents autonomes.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333500" y="4402335"/>
            <a:ext cx="5631656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Pôles Incidents • Changements • Problèmes • Qualité de Service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762000" y="2948880"/>
            <a:ext cx="3302049" cy="2000250"/>
          </a:xfrm>
          <a:prstGeom prst="roundRect">
            <a:avLst>
              <a:gd fmla="val 761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4445049" y="2948880"/>
            <a:ext cx="3302049" cy="2000250"/>
          </a:xfrm>
          <a:prstGeom prst="roundRect">
            <a:avLst>
              <a:gd fmla="val 761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8128099" y="2948880"/>
            <a:ext cx="3302049" cy="2000250"/>
          </a:xfrm>
          <a:prstGeom prst="roundRect">
            <a:avLst>
              <a:gd fmla="val 761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 CONSTAT OPÉRATIONNEL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762000" y="781050"/>
            <a:ext cx="114300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Pourquoi automatiser le Service Management ?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730243" y="3329880"/>
            <a:ext cx="336556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75%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30243" y="4129980"/>
            <a:ext cx="336556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Incidents causés par un changement récent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4413293" y="3329880"/>
            <a:ext cx="336556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-50%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4413293" y="4129980"/>
            <a:ext cx="336556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Réduction ciblée du temps moyen de résolution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096343" y="3329880"/>
            <a:ext cx="336556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24/7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096343" y="4129980"/>
            <a:ext cx="336556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Supervision continue et proactive des SLAs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/>
          <p:nvPr/>
        </p:nvSpPr>
        <p:spPr>
          <a:xfrm>
            <a:off x="762000" y="2870894"/>
            <a:ext cx="3378249" cy="2194321"/>
          </a:xfrm>
          <a:prstGeom prst="roundRect">
            <a:avLst>
              <a:gd fmla="val 6945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4406949" y="2870894"/>
            <a:ext cx="3378249" cy="2194321"/>
          </a:xfrm>
          <a:prstGeom prst="roundRect">
            <a:avLst>
              <a:gd fmla="val 6945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8051899" y="2870894"/>
            <a:ext cx="3378249" cy="2194321"/>
          </a:xfrm>
          <a:prstGeom prst="roundRect">
            <a:avLst>
              <a:gd fmla="val 6945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00" y="321379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73649" y="321379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18599" y="321379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23950" y="3337619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97474" y="3337619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42424" y="3337619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PLATEFORME ENTERPRISE AI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762000" y="781050"/>
            <a:ext cx="114300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Qu'est-ce que Dataiku Agent Hub ?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1028700" y="3861494"/>
            <a:ext cx="373386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Espace Centralisé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1028700" y="4242494"/>
            <a:ext cx="2940099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Orchestration unifiée de tous les agents métiers.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4673649" y="3861494"/>
            <a:ext cx="373386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Catalogue de Tools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4673649" y="4242494"/>
            <a:ext cx="2940099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Connexion native aux API et bases ITSM.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318599" y="3861494"/>
            <a:ext cx="373386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Gouvernance LLM Mesh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318599" y="4242494"/>
            <a:ext cx="2940099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Traçabilité stricte des accès et modèles.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6"/>
          <p:cNvSpPr/>
          <p:nvPr/>
        </p:nvSpPr>
        <p:spPr>
          <a:xfrm>
            <a:off x="5860405" y="2339280"/>
            <a:ext cx="5569594" cy="933450"/>
          </a:xfrm>
          <a:prstGeom prst="roundRect">
            <a:avLst>
              <a:gd fmla="val 1224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5860405" y="3463230"/>
            <a:ext cx="5569594" cy="933450"/>
          </a:xfrm>
          <a:prstGeom prst="roundRect">
            <a:avLst>
              <a:gd fmla="val 1224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5860405" y="4587180"/>
            <a:ext cx="5569594" cy="933450"/>
          </a:xfrm>
          <a:prstGeom prst="roundRect">
            <a:avLst>
              <a:gd fmla="val 1224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2" name="Google Shape;13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024955"/>
            <a:ext cx="464120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024955"/>
            <a:ext cx="464120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FONCTIONNEMENT TECHNIQUE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762000" y="781050"/>
            <a:ext cx="114300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Anatomie d'un Agent sous Dataiku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108055" y="2548830"/>
            <a:ext cx="608394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Cerveau LLM Mesh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108055" y="2844105"/>
            <a:ext cx="608394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Raisonnement contextuel multi-modèles sécurisé.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6108055" y="3672780"/>
            <a:ext cx="608394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Tools &amp; Actions Métier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6108055" y="3968055"/>
            <a:ext cx="608394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Scripts Python personnalisés et appels API ITSM.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6108055" y="4796730"/>
            <a:ext cx="608394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Mémoire &amp; Contexte RAG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6108055" y="5092005"/>
            <a:ext cx="608394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Historique complet des tickets et base documentaire.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7"/>
          <p:cNvSpPr/>
          <p:nvPr/>
        </p:nvSpPr>
        <p:spPr>
          <a:xfrm>
            <a:off x="6743700" y="2758380"/>
            <a:ext cx="4686300" cy="2343150"/>
          </a:xfrm>
          <a:prstGeom prst="roundRect">
            <a:avLst>
              <a:gd fmla="val 6504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762000" y="2301180"/>
            <a:ext cx="5600700" cy="971550"/>
          </a:xfrm>
          <a:prstGeom prst="roundRect">
            <a:avLst>
              <a:gd fmla="val 13725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762000" y="3444180"/>
            <a:ext cx="5600700" cy="971550"/>
          </a:xfrm>
          <a:prstGeom prst="roundRect">
            <a:avLst>
              <a:gd fmla="val 13725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762000" y="4587180"/>
            <a:ext cx="5600700" cy="971550"/>
          </a:xfrm>
          <a:prstGeom prst="roundRect">
            <a:avLst>
              <a:gd fmla="val 13725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6A3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RÉUSSITE EXISTANTE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762000" y="781050"/>
            <a:ext cx="114300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Notre Premier Succès : Agent Incident-Changement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6586537" y="3215580"/>
            <a:ext cx="50006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-80%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6586537" y="4053780"/>
            <a:ext cx="50006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Temps d'investigation initiale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6586537" y="4444305"/>
            <a:ext cx="50006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Recherche automatisée en quelques secondes.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990600" y="2529780"/>
            <a:ext cx="675084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Entrée Unique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990600" y="2825055"/>
            <a:ext cx="64293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Référence directe du ticket incident.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990600" y="3672780"/>
            <a:ext cx="675084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Exécution du Tool Dataiku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990600" y="3968055"/>
            <a:ext cx="64293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Corrélation chronologique des releases et logs.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990600" y="4815780"/>
            <a:ext cx="675084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Résultat Fourni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990600" y="5111055"/>
            <a:ext cx="64293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Identification immédiate du changement suspect.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/>
          <p:nvPr/>
        </p:nvSpPr>
        <p:spPr>
          <a:xfrm>
            <a:off x="762000" y="2934592"/>
            <a:ext cx="2524125" cy="1990725"/>
          </a:xfrm>
          <a:prstGeom prst="roundRect">
            <a:avLst>
              <a:gd fmla="val 6698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3476625" y="2934592"/>
            <a:ext cx="2524125" cy="1990725"/>
          </a:xfrm>
          <a:prstGeom prst="roundRect">
            <a:avLst>
              <a:gd fmla="val 6698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6191250" y="2934592"/>
            <a:ext cx="2524125" cy="1990725"/>
          </a:xfrm>
          <a:prstGeom prst="roundRect">
            <a:avLst>
              <a:gd fmla="val 6698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8905875" y="2934592"/>
            <a:ext cx="2524125" cy="1990725"/>
          </a:xfrm>
          <a:prstGeom prst="roundRect">
            <a:avLst>
              <a:gd fmla="val 6698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5462" y="323939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10087" y="323939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24712" y="323939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39337" y="323939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28812" y="3372742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52962" y="3372742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358062" y="3372742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72687" y="3372742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VISION CIBLE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762000" y="781050"/>
            <a:ext cx="114300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 Suite d'Agents Service Management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617636" y="3848992"/>
            <a:ext cx="281285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Agent Incidents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684609" y="4182367"/>
            <a:ext cx="2678906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Triage et dispatch automatique.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3332261" y="3848992"/>
            <a:ext cx="281285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Agent Changements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3399234" y="4182367"/>
            <a:ext cx="2678906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Évaluation prédictive des risques.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6046886" y="3848992"/>
            <a:ext cx="281285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Agent Problèmes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6113859" y="4182367"/>
            <a:ext cx="2678906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Détection des causes racines.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8761511" y="3848992"/>
            <a:ext cx="281285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Agent QoS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8828484" y="4182367"/>
            <a:ext cx="2678906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Surveillance dynamique des SLAs.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/>
          <p:nvPr/>
        </p:nvSpPr>
        <p:spPr>
          <a:xfrm>
            <a:off x="762000" y="2782192"/>
            <a:ext cx="5162550" cy="2295525"/>
          </a:xfrm>
          <a:prstGeom prst="roundRect">
            <a:avLst>
              <a:gd fmla="val 663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6267450" y="2672655"/>
            <a:ext cx="5162550" cy="2514600"/>
          </a:xfrm>
          <a:prstGeom prst="roundRect">
            <a:avLst>
              <a:gd fmla="val 6060" name="adj"/>
            </a:avLst>
          </a:prstGeom>
          <a:solidFill>
            <a:srgbClr val="F0F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GESTION DES INCIDENTS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762000" y="781050"/>
            <a:ext cx="114300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Transformation du Triage et de la Résolution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1066800" y="3125092"/>
            <a:ext cx="56911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TRAITEMENT CONVENTIONNEL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6572250" y="3015555"/>
            <a:ext cx="5619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6A3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AVEC L'AGENT DATAIKU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1066800" y="3515617"/>
            <a:ext cx="56911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 manuelle 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Qualification laborieuse des tickets.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1066800" y="3906142"/>
            <a:ext cx="56911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Routage fragmenté 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Renvois fréquents entre équipes.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1066800" y="4296667"/>
            <a:ext cx="46482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Recherche lente 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Consultation dispersée des documentations.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6572250" y="3406080"/>
            <a:ext cx="46482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Triage instantané :</a:t>
            </a:r>
            <a:r>
              <a:rPr b="0" i="0" lang="en-US" sz="1350" u="none" cap="none" strike="noStrik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Catégorisation automatique en temps réel.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6572250" y="4015680"/>
            <a:ext cx="46482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Enrichissement Tool :</a:t>
            </a:r>
            <a:r>
              <a:rPr b="0" i="0" lang="en-US" sz="1350" u="none" cap="none" strike="noStrik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Corrélation immédiate aux changements.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6572250" y="4625280"/>
            <a:ext cx="5619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Résolution guidée :</a:t>
            </a:r>
            <a:r>
              <a:rPr b="0" i="0" lang="en-US" sz="1350" u="none" cap="none" strike="noStrik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Suggestions d'actions éprouvées.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0"/>
          <p:cNvSpPr/>
          <p:nvPr/>
        </p:nvSpPr>
        <p:spPr>
          <a:xfrm>
            <a:off x="5860405" y="2282130"/>
            <a:ext cx="5569594" cy="971550"/>
          </a:xfrm>
          <a:prstGeom prst="roundRect">
            <a:avLst>
              <a:gd fmla="val 13725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5860405" y="3444180"/>
            <a:ext cx="5569594" cy="971550"/>
          </a:xfrm>
          <a:prstGeom prst="roundRect">
            <a:avLst>
              <a:gd fmla="val 13725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5860405" y="4606230"/>
            <a:ext cx="5569594" cy="971550"/>
          </a:xfrm>
          <a:prstGeom prst="roundRect">
            <a:avLst>
              <a:gd fmla="val 13725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024955"/>
            <a:ext cx="464120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024955"/>
            <a:ext cx="464120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0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GESTION DES CHANGEMENTS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762000" y="781050"/>
            <a:ext cx="114300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Sécuriser les Déploiements en Amont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6127105" y="2510730"/>
            <a:ext cx="606489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Scoring de Risque Prédictif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6127105" y="2806005"/>
            <a:ext cx="606489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Calcul automatique du risque selon l'historique.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6127105" y="3672780"/>
            <a:ext cx="606489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Détection des Conflits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6127105" y="3968055"/>
            <a:ext cx="606489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Alerte immédiate sur les chevauchements critiques.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6127105" y="4834830"/>
            <a:ext cx="606489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Préparation du CAB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6127105" y="5130105"/>
            <a:ext cx="606489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Synthèse d'impact générée avant arbitrage.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1"/>
          <p:cNvSpPr/>
          <p:nvPr/>
        </p:nvSpPr>
        <p:spPr>
          <a:xfrm>
            <a:off x="762000" y="2767905"/>
            <a:ext cx="4860280" cy="2324100"/>
          </a:xfrm>
          <a:prstGeom prst="roundRect">
            <a:avLst>
              <a:gd fmla="val 6557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6003280" y="2825055"/>
            <a:ext cx="5426719" cy="1009650"/>
          </a:xfrm>
          <a:prstGeom prst="roundRect">
            <a:avLst>
              <a:gd fmla="val 13207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6003280" y="4025205"/>
            <a:ext cx="5426719" cy="1009650"/>
          </a:xfrm>
          <a:prstGeom prst="roundRect">
            <a:avLst>
              <a:gd fmla="val 13207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PROBLÈMES &amp; QUALITÉ DE SERVICE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762000" y="781050"/>
            <a:ext cx="114300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Anticipation et Analyse des Causes Racines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583089" y="3225105"/>
            <a:ext cx="52181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90%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583089" y="4063305"/>
            <a:ext cx="52181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Détection Proactive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583089" y="4415730"/>
            <a:ext cx="52181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Identification des incidents récurrents masqués.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6289030" y="3072705"/>
            <a:ext cx="590296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Agent Problèmes : Corrélation Sémantique</a:t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6289030" y="3367980"/>
            <a:ext cx="590296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Regroupement automatique des tickets similaires.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6289030" y="4272855"/>
            <a:ext cx="590296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Agent QoS : Sentinelle des Engagements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6289030" y="4568130"/>
            <a:ext cx="590296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Calcul dynamique des dérives de SLA par service.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2"/>
          <p:cNvSpPr/>
          <p:nvPr/>
        </p:nvSpPr>
        <p:spPr>
          <a:xfrm>
            <a:off x="762000" y="2906017"/>
            <a:ext cx="3378249" cy="2124075"/>
          </a:xfrm>
          <a:prstGeom prst="roundRect">
            <a:avLst>
              <a:gd fmla="val 717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2"/>
          <p:cNvSpPr/>
          <p:nvPr/>
        </p:nvSpPr>
        <p:spPr>
          <a:xfrm>
            <a:off x="4406949" y="2906017"/>
            <a:ext cx="3378249" cy="2124075"/>
          </a:xfrm>
          <a:prstGeom prst="roundRect">
            <a:avLst>
              <a:gd fmla="val 717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8051899" y="2906017"/>
            <a:ext cx="3378249" cy="2124075"/>
          </a:xfrm>
          <a:prstGeom prst="roundRect">
            <a:avLst>
              <a:gd fmla="val 717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3" name="Google Shape;24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00" y="32489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73649" y="32489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18599" y="32489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38237" y="3382267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06999" y="338226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51949" y="3382267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2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SÉCURITÉ &amp; CONFORMITÉ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762000" y="781050"/>
            <a:ext cx="114300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Gouvernance Intégrée avec Dataiku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1028700" y="3896617"/>
            <a:ext cx="373386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Contrôle des Accès (RBAC)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1028700" y="4249042"/>
            <a:ext cx="2940099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Cloisonnement strict selon les habilitations.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4673649" y="3896617"/>
            <a:ext cx="373386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Auditabilité Totale</a:t>
            </a:r>
            <a:endParaRPr/>
          </a:p>
        </p:txBody>
      </p:sp>
      <p:sp>
        <p:nvSpPr>
          <p:cNvPr id="254" name="Google Shape;254;p22"/>
          <p:cNvSpPr txBox="1"/>
          <p:nvPr/>
        </p:nvSpPr>
        <p:spPr>
          <a:xfrm>
            <a:off x="4673649" y="4249042"/>
            <a:ext cx="2940099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Journalisation complète des requêtes et actions.</a:t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8318599" y="3896617"/>
            <a:ext cx="373386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Maîtrise des Coûts</a:t>
            </a:r>
            <a:endParaRPr/>
          </a:p>
        </p:txBody>
      </p:sp>
      <p:sp>
        <p:nvSpPr>
          <p:cNvPr id="256" name="Google Shape;256;p22"/>
          <p:cNvSpPr txBox="1"/>
          <p:nvPr/>
        </p:nvSpPr>
        <p:spPr>
          <a:xfrm>
            <a:off x="8318599" y="4249042"/>
            <a:ext cx="2940099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Suivi précis de la consommation des tokens.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3"/>
          <p:cNvSpPr/>
          <p:nvPr/>
        </p:nvSpPr>
        <p:spPr>
          <a:xfrm>
            <a:off x="762000" y="2977455"/>
            <a:ext cx="2524125" cy="1981200"/>
          </a:xfrm>
          <a:prstGeom prst="roundRect">
            <a:avLst>
              <a:gd fmla="val 673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3"/>
          <p:cNvSpPr/>
          <p:nvPr/>
        </p:nvSpPr>
        <p:spPr>
          <a:xfrm>
            <a:off x="3476625" y="3086992"/>
            <a:ext cx="2524125" cy="1762125"/>
          </a:xfrm>
          <a:prstGeom prst="roundRect">
            <a:avLst>
              <a:gd fmla="val 7567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/>
          <p:nvPr/>
        </p:nvSpPr>
        <p:spPr>
          <a:xfrm>
            <a:off x="6191250" y="3086992"/>
            <a:ext cx="2524125" cy="1762125"/>
          </a:xfrm>
          <a:prstGeom prst="roundRect">
            <a:avLst>
              <a:gd fmla="val 7567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3"/>
          <p:cNvSpPr/>
          <p:nvPr/>
        </p:nvSpPr>
        <p:spPr>
          <a:xfrm>
            <a:off x="8905875" y="3086992"/>
            <a:ext cx="2524125" cy="1762125"/>
          </a:xfrm>
          <a:prstGeom prst="roundRect">
            <a:avLst>
              <a:gd fmla="val 7567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3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PLAN DE DÉPLOIEMENT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762000" y="781050"/>
            <a:ext cx="114300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Feuille de Route pour nos 4 Pôles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684609" y="3282255"/>
            <a:ext cx="267890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Phase 1</a:t>
            </a:r>
            <a:endParaRPr/>
          </a:p>
        </p:txBody>
      </p:sp>
      <p:sp>
        <p:nvSpPr>
          <p:cNvPr id="268" name="Google Shape;268;p23"/>
          <p:cNvSpPr txBox="1"/>
          <p:nvPr/>
        </p:nvSpPr>
        <p:spPr>
          <a:xfrm>
            <a:off x="617636" y="3682305"/>
            <a:ext cx="281285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Cadrage PoC</a:t>
            </a:r>
            <a:endParaRPr/>
          </a:p>
        </p:txBody>
      </p:sp>
      <p:sp>
        <p:nvSpPr>
          <p:cNvPr id="269" name="Google Shape;269;p23"/>
          <p:cNvSpPr txBox="1"/>
          <p:nvPr/>
        </p:nvSpPr>
        <p:spPr>
          <a:xfrm>
            <a:off x="684609" y="3996630"/>
            <a:ext cx="2678906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Consolidation du tool incident-changement existant.</a:t>
            </a:r>
            <a:endParaRPr/>
          </a:p>
        </p:txBody>
      </p:sp>
      <p:sp>
        <p:nvSpPr>
          <p:cNvPr id="270" name="Google Shape;270;p23"/>
          <p:cNvSpPr txBox="1"/>
          <p:nvPr/>
        </p:nvSpPr>
        <p:spPr>
          <a:xfrm>
            <a:off x="3399234" y="3391792"/>
            <a:ext cx="267890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Phase 2</a:t>
            </a:r>
            <a:endParaRPr/>
          </a:p>
        </p:txBody>
      </p:sp>
      <p:sp>
        <p:nvSpPr>
          <p:cNvPr id="271" name="Google Shape;271;p23"/>
          <p:cNvSpPr txBox="1"/>
          <p:nvPr/>
        </p:nvSpPr>
        <p:spPr>
          <a:xfrm>
            <a:off x="3332261" y="3791842"/>
            <a:ext cx="281285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Incidents &amp; RFC</a:t>
            </a:r>
            <a:endParaRPr/>
          </a:p>
        </p:txBody>
      </p:sp>
      <p:sp>
        <p:nvSpPr>
          <p:cNvPr id="272" name="Google Shape;272;p23"/>
          <p:cNvSpPr txBox="1"/>
          <p:nvPr/>
        </p:nvSpPr>
        <p:spPr>
          <a:xfrm>
            <a:off x="3399234" y="4106167"/>
            <a:ext cx="2678906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Déploiement des agents de triage et risque.</a:t>
            </a:r>
            <a:endParaRPr/>
          </a:p>
        </p:txBody>
      </p:sp>
      <p:sp>
        <p:nvSpPr>
          <p:cNvPr id="273" name="Google Shape;273;p23"/>
          <p:cNvSpPr txBox="1"/>
          <p:nvPr/>
        </p:nvSpPr>
        <p:spPr>
          <a:xfrm>
            <a:off x="6113859" y="3391792"/>
            <a:ext cx="267890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Phase 3</a:t>
            </a:r>
            <a:endParaRPr/>
          </a:p>
        </p:txBody>
      </p:sp>
      <p:sp>
        <p:nvSpPr>
          <p:cNvPr id="274" name="Google Shape;274;p23"/>
          <p:cNvSpPr txBox="1"/>
          <p:nvPr/>
        </p:nvSpPr>
        <p:spPr>
          <a:xfrm>
            <a:off x="6046886" y="3791842"/>
            <a:ext cx="281285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Problèmes &amp; QoS</a:t>
            </a:r>
            <a:endParaRPr/>
          </a:p>
        </p:txBody>
      </p:sp>
      <p:sp>
        <p:nvSpPr>
          <p:cNvPr id="275" name="Google Shape;275;p23"/>
          <p:cNvSpPr txBox="1"/>
          <p:nvPr/>
        </p:nvSpPr>
        <p:spPr>
          <a:xfrm>
            <a:off x="6113859" y="4106167"/>
            <a:ext cx="2678906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Activation de l'analyse proactive des SLAs.</a:t>
            </a:r>
            <a:endParaRPr/>
          </a:p>
        </p:txBody>
      </p:sp>
      <p:sp>
        <p:nvSpPr>
          <p:cNvPr id="276" name="Google Shape;276;p23"/>
          <p:cNvSpPr txBox="1"/>
          <p:nvPr/>
        </p:nvSpPr>
        <p:spPr>
          <a:xfrm>
            <a:off x="8828484" y="3391792"/>
            <a:ext cx="267890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6A3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Phase 4</a:t>
            </a:r>
            <a:endParaRPr/>
          </a:p>
        </p:txBody>
      </p:sp>
      <p:sp>
        <p:nvSpPr>
          <p:cNvPr id="277" name="Google Shape;277;p23"/>
          <p:cNvSpPr txBox="1"/>
          <p:nvPr/>
        </p:nvSpPr>
        <p:spPr>
          <a:xfrm>
            <a:off x="8761511" y="3791842"/>
            <a:ext cx="281285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Agent Hub</a:t>
            </a:r>
            <a:endParaRPr/>
          </a:p>
        </p:txBody>
      </p:sp>
      <p:sp>
        <p:nvSpPr>
          <p:cNvPr id="278" name="Google Shape;278;p23"/>
          <p:cNvSpPr txBox="1"/>
          <p:nvPr/>
        </p:nvSpPr>
        <p:spPr>
          <a:xfrm>
            <a:off x="8828484" y="4106167"/>
            <a:ext cx="2678906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Interconnexion complète et gouvernance globale.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4"/>
          <p:cNvSpPr/>
          <p:nvPr/>
        </p:nvSpPr>
        <p:spPr>
          <a:xfrm>
            <a:off x="4810125" y="4513808"/>
            <a:ext cx="2571750" cy="485775"/>
          </a:xfrm>
          <a:prstGeom prst="roundRect">
            <a:avLst>
              <a:gd fmla="val 15686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4"/>
          <p:cNvSpPr txBox="1"/>
          <p:nvPr/>
        </p:nvSpPr>
        <p:spPr>
          <a:xfrm>
            <a:off x="5030390" y="1858416"/>
            <a:ext cx="213121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PROCHAINES ÉTAPES</a:t>
            </a:r>
            <a:endParaRPr/>
          </a:p>
        </p:txBody>
      </p:sp>
      <p:sp>
        <p:nvSpPr>
          <p:cNvPr id="285" name="Google Shape;285;p24"/>
          <p:cNvSpPr txBox="1"/>
          <p:nvPr/>
        </p:nvSpPr>
        <p:spPr>
          <a:xfrm>
            <a:off x="1095375" y="2220366"/>
            <a:ext cx="100012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Passons à l'Échelle avec l'Agent Hub</a:t>
            </a:r>
            <a:endParaRPr/>
          </a:p>
        </p:txBody>
      </p:sp>
      <p:sp>
        <p:nvSpPr>
          <p:cNvPr id="286" name="Google Shape;286;p24"/>
          <p:cNvSpPr txBox="1"/>
          <p:nvPr/>
        </p:nvSpPr>
        <p:spPr>
          <a:xfrm>
            <a:off x="2047875" y="3546127"/>
            <a:ext cx="80962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Industrialisons notre premier agent pour transformer l'ensemble de nos opérations de Service Management.</a:t>
            </a:r>
            <a:endParaRPr/>
          </a:p>
        </p:txBody>
      </p:sp>
      <p:sp>
        <p:nvSpPr>
          <p:cNvPr id="287" name="Google Shape;287;p24"/>
          <p:cNvSpPr txBox="1"/>
          <p:nvPr/>
        </p:nvSpPr>
        <p:spPr>
          <a:xfrm>
            <a:off x="4869656" y="4647158"/>
            <a:ext cx="2452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Discussion &amp; Questions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E8F0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5"/>
          <p:cNvSpPr/>
          <p:nvPr/>
        </p:nvSpPr>
        <p:spPr>
          <a:xfrm>
            <a:off x="571500" y="857250"/>
            <a:ext cx="1104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5"/>
          <p:cNvSpPr/>
          <p:nvPr/>
        </p:nvSpPr>
        <p:spPr>
          <a:xfrm>
            <a:off x="571500" y="18478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5"/>
          <p:cNvSpPr/>
          <p:nvPr/>
        </p:nvSpPr>
        <p:spPr>
          <a:xfrm>
            <a:off x="571500" y="18478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5" name="Google Shape;29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114425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002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5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Image Sources</a:t>
            </a:r>
            <a:endParaRPr/>
          </a:p>
        </p:txBody>
      </p:sp>
      <p:sp>
        <p:nvSpPr>
          <p:cNvPr id="298" name="Google Shape;298;p25"/>
          <p:cNvSpPr txBox="1"/>
          <p:nvPr/>
        </p:nvSpPr>
        <p:spPr>
          <a:xfrm>
            <a:off x="1666875" y="1000125"/>
            <a:ext cx="100488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d3njjcbhbojbot.cloudfront.net/api/utilities/v1/imageproxy/https://images.ctfassets.net/wp1lcwdav1p1/15RZuggoSGaRa8uWGCscPF/bc1fe237dbcc67b9f81cc5a3807ee5c0/GettyImages-1442972530-converted-from-jpg.webp?w=1500&amp;h=680&amp;q=60&amp;fit=fill&amp;f=faces&amp;fm=jpg&amp;fl=progressive&amp;auto=format%2Ccompress&amp;dpr=1&amp;w=1000</a:t>
            </a:r>
            <a:endParaRPr/>
          </a:p>
        </p:txBody>
      </p:sp>
      <p:sp>
        <p:nvSpPr>
          <p:cNvPr id="299" name="Google Shape;299;p25"/>
          <p:cNvSpPr txBox="1"/>
          <p:nvPr/>
        </p:nvSpPr>
        <p:spPr>
          <a:xfrm>
            <a:off x="1666875" y="1504950"/>
            <a:ext cx="240506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www.coursera.org</a:t>
            </a:r>
            <a:endParaRPr/>
          </a:p>
        </p:txBody>
      </p:sp>
      <p:sp>
        <p:nvSpPr>
          <p:cNvPr id="300" name="Google Shape;300;p25"/>
          <p:cNvSpPr txBox="1"/>
          <p:nvPr/>
        </p:nvSpPr>
        <p:spPr>
          <a:xfrm>
            <a:off x="1666875" y="2038350"/>
            <a:ext cx="775096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https://insights.samsung.com/wp-content/uploads/2023/07/microLED-federal-command-center.png</a:t>
            </a:r>
            <a:endParaRPr/>
          </a:p>
        </p:txBody>
      </p:sp>
      <p:sp>
        <p:nvSpPr>
          <p:cNvPr id="301" name="Google Shape;301;p25"/>
          <p:cNvSpPr txBox="1"/>
          <p:nvPr/>
        </p:nvSpPr>
        <p:spPr>
          <a:xfrm>
            <a:off x="1666875" y="2238375"/>
            <a:ext cx="279796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insights.samsung.com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